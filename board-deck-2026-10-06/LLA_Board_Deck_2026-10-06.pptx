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7828" type="screen4x3"/>
  <p:notesSz cx="6858000" cy="9144000"/>
  <p:embeddedFontLst>
    <p:embeddedFont>
      <p:font typeface="Poppins" pitchFamily="34" charset="0"/>
      <p:regular r:id="rIdPoppinsRegular"/>
      <p:bold r:id="rIdPoppinsBold"/>
      <p:italic r:id="rIdPoppinsItalic"/>
      <p:boldItalic r:id="rIdPoppinsBoldItalic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PoppinsRegular" Type="http://schemas.openxmlformats.org/officeDocument/2006/relationships/font" Target="fonts/Poppins-Regular.fntdata"/><Relationship Id="rIdPoppinsBold" Type="http://schemas.openxmlformats.org/officeDocument/2006/relationships/font" Target="fonts/Poppins-Bold.fntdata"/><Relationship Id="rIdPoppinsItalic" Type="http://schemas.openxmlformats.org/officeDocument/2006/relationships/font" Target="fonts/Poppins-Italic.fntdata"/><Relationship Id="rIdPoppinsBoldItalic" Type="http://schemas.openxmlformats.org/officeDocument/2006/relationships/font" Target="fonts/Poppins-BoldItalic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3.jpg"/><Relationship Id="rId8" Type="http://schemas.openxmlformats.org/officeDocument/2006/relationships/image" Target="../media/image4.jpg"/><Relationship Id="rId9" Type="http://schemas.openxmlformats.org/officeDocument/2006/relationships/image" Target="../media/image5.jpg"/><Relationship Id="rId10" Type="http://schemas.openxmlformats.org/officeDocument/2006/relationships/image" Target="../media/image6.jpg"/><Relationship Id="rId11" Type="http://schemas.openxmlformats.org/officeDocument/2006/relationships/image" Target="../media/image7.jpg"/><Relationship Id="rId12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9.jpg"/><Relationship Id="rId5" Type="http://schemas.microsoft.com/office/2007/relationships/media" Target="../media/media4.mp4"/><Relationship Id="rId6" Type="http://schemas.openxmlformats.org/officeDocument/2006/relationships/video" Target="../media/media4.mp4"/><Relationship Id="rId7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15.jpg"/><Relationship Id="rId9" Type="http://schemas.microsoft.com/office/2007/relationships/media" Target="../media/media6.mp4"/><Relationship Id="rId10" Type="http://schemas.openxmlformats.org/officeDocument/2006/relationships/video" Target="../media/media6.mp4"/><Relationship Id="rId11" Type="http://schemas.openxmlformats.org/officeDocument/2006/relationships/image" Target="../media/image16.jpg"/><Relationship Id="rId12" Type="http://schemas.microsoft.com/office/2007/relationships/media" Target="../media/media7.mp4"/><Relationship Id="rId13" Type="http://schemas.openxmlformats.org/officeDocument/2006/relationships/video" Target="../media/media7.mp4"/><Relationship Id="rId14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18.jpg"/><Relationship Id="rId5" Type="http://schemas.microsoft.com/office/2007/relationships/media" Target="../media/media9.mp4"/><Relationship Id="rId6" Type="http://schemas.openxmlformats.org/officeDocument/2006/relationships/video" Target="../media/media9.mp4"/><Relationship Id="rId7" Type="http://schemas.openxmlformats.org/officeDocument/2006/relationships/image" Target="../media/image19.jpg"/><Relationship Id="rId8" Type="http://schemas.microsoft.com/office/2007/relationships/media" Target="../media/media10.mp4"/><Relationship Id="rId9" Type="http://schemas.openxmlformats.org/officeDocument/2006/relationships/video" Target="../media/media10.mp4"/><Relationship Id="rId10" Type="http://schemas.openxmlformats.org/officeDocument/2006/relationships/image" Target="../media/image20.jpg"/><Relationship Id="rId11" Type="http://schemas.microsoft.com/office/2007/relationships/media" Target="../media/media11.mp4"/><Relationship Id="rId12" Type="http://schemas.openxmlformats.org/officeDocument/2006/relationships/video" Target="../media/media11.mp4"/><Relationship Id="rId13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1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What we built · three acquisition efforts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386" y="1463040"/>
            <a:ext cx="304792" cy="30479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386" y="1463040"/>
            <a:ext cx="304792" cy="304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2000"/>
              </a:lnSpc>
            </a:pPr>
            <a:r>
              <a:rPr sz="11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" y="1463040"/>
            <a:ext cx="7937301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>
                <a:solidFill>
                  <a:srgbClr val="0F2A4A"/>
                </a:solidFill>
                <a:latin typeface="Poppins"/>
              </a:rPr>
              <a:t>Lead generation. Launched Julie and Courtney films, video cutdowns and static campaigns. Re-tuned the activity, then deliberately reduced volume to prioritise e-commerce.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386" y="3063240"/>
            <a:ext cx="304792" cy="30479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386" y="3063240"/>
            <a:ext cx="304792" cy="304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2000"/>
              </a:lnSpc>
            </a:pPr>
            <a:r>
              <a:rPr sz="11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575" y="3063240"/>
            <a:ext cx="7937301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>
                <a:solidFill>
                  <a:srgbClr val="0F2A4A"/>
                </a:solidFill>
                <a:latin typeface="Poppins"/>
              </a:rPr>
              <a:t>Blueprint e-commerce. Launched a separate direct-purchase funnel and generated the first 3 online sales. Used the initial results to shape the relaunch.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386" y="4663440"/>
            <a:ext cx="304792" cy="30479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386" y="4663440"/>
            <a:ext cx="304792" cy="304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2000"/>
              </a:lnSpc>
            </a:pPr>
            <a:r>
              <a:rPr sz="11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575" y="4663440"/>
            <a:ext cx="7937301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>
                <a:solidFill>
                  <a:srgbClr val="0F2A4A"/>
                </a:solidFill>
                <a:latin typeface="Poppins"/>
              </a:rPr>
              <a:t>Julie’s Masterclass. Built bottom-up to grow a paying community that can later convert to the full Blueprint course. Launched the website, checkout and 45 emails, backed by 66 launch ads across six test ad sets: presenter videos, film cutdowns, Reels and statics.</a:t>
            </a:r>
          </a:p>
        </p:txBody>
      </p:sp>
      <p:pic>
        <p:nvPicPr>
          <p:cNvPr id="18" name="Picture 17" descr="crop_julie_couch_a_web.jpg_360x7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365" y="1269968"/>
            <a:ext cx="2285942" cy="45718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2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F2A4A"/>
                </a:solidFill>
                <a:latin typeface="Poppins"/>
              </a:rPr>
              <a:t>Next phase · grow direct sales and the paying community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386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782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9FC0E6"/>
                </a:solidFill>
                <a:latin typeface="Poppins"/>
              </a:rPr>
              <a:t>MASTERCLASS SIGN-UPS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782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Poppins"/>
              </a:rPr>
              <a:t>113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782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FFFFFF"/>
                </a:solidFill>
                <a:latin typeface="Poppins"/>
              </a:rPr>
              <a:t>As of 18 October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3191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5587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B7A90"/>
                </a:solidFill>
                <a:latin typeface="Poppins"/>
              </a:rPr>
              <a:t>27 OCTOBER 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5587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7B4F"/>
                </a:solidFill>
                <a:latin typeface="Poppins"/>
              </a:rPr>
              <a:t>350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5587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3D4B5F"/>
                </a:solidFill>
                <a:latin typeface="Poppins"/>
              </a:rPr>
              <a:t>Masterclass sign-ups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2996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5392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B7A90"/>
                </a:solidFill>
                <a:latin typeface="Poppins"/>
              </a:rPr>
              <a:t>14 NOVEMBER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5392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2A4A"/>
                </a:solidFill>
                <a:latin typeface="Poppins"/>
              </a:rPr>
              <a:t>350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5392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3D4B5F"/>
                </a:solidFill>
                <a:latin typeface="Poppins"/>
              </a:rPr>
              <a:t>700 combined by 14 November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2800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15197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6B7A90"/>
                </a:solidFill>
                <a:latin typeface="Poppins"/>
              </a:rPr>
              <a:t>BLUEPRINT UPSELL TARGET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5197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2A4A"/>
                </a:solidFill>
                <a:latin typeface="Poppins"/>
              </a:rPr>
              <a:t>1 in 10–12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5197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3D4B5F"/>
                </a:solidFill>
                <a:latin typeface="Poppins"/>
              </a:rPr>
              <a:t>Masterclass buyer → full-course buyer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386" y="2611562"/>
            <a:ext cx="3615176" cy="3827176"/>
          </a:xfrm>
          <a:prstGeom prst="roundRect">
            <a:avLst>
              <a:gd name="adj" fmla="val 4215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3881" y="2776658"/>
            <a:ext cx="3234185" cy="306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2A4A"/>
                </a:solidFill>
                <a:latin typeface="Poppins"/>
              </a:rPr>
              <a:t>1 · Hybrid lead generation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881" y="3108374"/>
            <a:ext cx="3234185" cy="3985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7A90"/>
                </a:solidFill>
                <a:latin typeface="Poppins"/>
              </a:rPr>
              <a:t>E-commerce first; sales-assisted recovery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881" y="3595793"/>
            <a:ext cx="3234185" cy="18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A2433"/>
                </a:solidFill>
                <a:latin typeface="Poppins"/>
              </a:rPr>
              <a:t>•  Maintain low-volume lead generation while prioritising e-commerce.
•  Send abandoned-cart prospects to sales for follow-up.
•  Combine direct purchases with sales-assisted conversions.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8259" y="2611562"/>
            <a:ext cx="3615176" cy="3827176"/>
          </a:xfrm>
          <a:prstGeom prst="roundRect">
            <a:avLst>
              <a:gd name="adj" fmla="val 4215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78754" y="2776658"/>
            <a:ext cx="3234185" cy="306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2A4A"/>
                </a:solidFill>
                <a:latin typeface="Poppins"/>
              </a:rPr>
              <a:t>2 · Blueprint relaunch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8754" y="3108374"/>
            <a:ext cx="3234185" cy="3985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7A90"/>
                </a:solidFill>
                <a:latin typeface="Poppins"/>
              </a:rPr>
              <a:t>Separate direct-sales funnel · this week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8754" y="3595793"/>
            <a:ext cx="3234185" cy="20131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A2433"/>
                </a:solidFill>
                <a:latin typeface="Poppins"/>
              </a:rPr>
              <a:t>•  Relaunch with an updated landing page and a new promotion.
•  Apply masterclass learnings to the offer and creative.
•  Add VIP: 2 CGMs + four 15-minute one-on-one teacher sessions, one per month.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3132" y="2611562"/>
            <a:ext cx="3615176" cy="3827176"/>
          </a:xfrm>
          <a:prstGeom prst="roundRect">
            <a:avLst>
              <a:gd name="adj" fmla="val 4215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3627" y="2776658"/>
            <a:ext cx="3234185" cy="306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2A4A"/>
                </a:solidFill>
                <a:latin typeface="Poppins"/>
              </a:rPr>
              <a:t>3 · Julie’s Masterclass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3627" y="3108374"/>
            <a:ext cx="3234185" cy="3985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B7A90"/>
                </a:solidFill>
                <a:latin typeface="Poppins"/>
              </a:rPr>
              <a:t>Build the paying community; upsell Blueprint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3627" y="3595793"/>
            <a:ext cx="3234185" cy="21891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A2433"/>
                </a:solidFill>
                <a:latin typeface="Poppins"/>
              </a:rPr>
              <a:t>•  Target 350 sign-ups per date: 700 total by 14 November.
•  Drive registrations with paid creative and the IIBS, Rosen and Longevity email blitz.
•  Convert 1 in 10–12 buyers to Blueprint through sales follow-up or direct checkout.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3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Round 1 · films and ads until September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7683" y="1163798"/>
            <a:ext cx="5346566" cy="3040780"/>
          </a:xfrm>
          <a:prstGeom prst="roundRect">
            <a:avLst>
              <a:gd name="adj" fmla="val 3341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julie-film-ful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85782" y="1201897"/>
            <a:ext cx="5270368" cy="29645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287" y="4229978"/>
            <a:ext cx="5651358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Julie Gibson Clark · full film · 2:19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7445" y="1163798"/>
            <a:ext cx="5346566" cy="3040780"/>
          </a:xfrm>
          <a:prstGeom prst="roundRect">
            <a:avLst>
              <a:gd name="adj" fmla="val 3341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courtney-full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5544" y="1201897"/>
            <a:ext cx="5270368" cy="29645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45048" y="4229978"/>
            <a:ext cx="5651358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Courtney · full film</a:t>
            </a:r>
          </a:p>
        </p:txBody>
      </p:sp>
      <p:pic>
        <p:nvPicPr>
          <p:cNvPr id="12" name="Picture 11" descr="crop_LLA_JULIE_1x1_1080x1080.jpg_230x23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8582" y="4585569"/>
            <a:ext cx="1460463" cy="14604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586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Blueprint · Julie</a:t>
            </a:r>
          </a:p>
        </p:txBody>
      </p:sp>
      <p:pic>
        <p:nvPicPr>
          <p:cNvPr id="14" name="Picture 13" descr="crop_LLA_COURTNEY_1x1_1080x1080.jpg_230x23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9541" y="4585569"/>
            <a:ext cx="1460463" cy="1460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22544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Blueprint · Courtney</a:t>
            </a:r>
          </a:p>
        </p:txBody>
      </p:sp>
      <p:pic>
        <p:nvPicPr>
          <p:cNvPr id="16" name="Picture 15" descr="crop_blueprint-julie-ad6-static.jpg_230x23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500" y="4585569"/>
            <a:ext cx="1460463" cy="146046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3503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Blueprint · Ad#6</a:t>
            </a:r>
          </a:p>
        </p:txBody>
      </p:sp>
      <p:pic>
        <p:nvPicPr>
          <p:cNvPr id="18" name="Picture 17" descr="crop_lead-courtney-ad3-static.jpg_230x23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1459" y="4585569"/>
            <a:ext cx="1460463" cy="14604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4462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Lead gen · Ad#3</a:t>
            </a:r>
          </a:p>
        </p:txBody>
      </p:sp>
      <p:pic>
        <p:nvPicPr>
          <p:cNvPr id="20" name="Picture 19" descr="crop_lead-courtney-ad7-static.jpg_439.49044585987264x23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2417" y="4585569"/>
            <a:ext cx="2790694" cy="146046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875420" y="6096831"/>
            <a:ext cx="3044688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Lead gen · Ad#7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4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Masterclass · the website and Julie's adapted film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1100300"/>
            <a:ext cx="11124921" cy="2392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3D4B5F"/>
                </a:solidFill>
                <a:latin typeface="Poppins"/>
              </a:rPr>
              <a:t>longevitylifeacademy.com/julie-masterclass · 60 s walkthrough: hero → dates → VIP seat → payment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8786" y="1466559"/>
            <a:ext cx="6857828" cy="3970238"/>
          </a:xfrm>
          <a:prstGeom prst="roundRect">
            <a:avLst>
              <a:gd name="adj" fmla="val 3838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website-walkthroug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73083" y="1580856"/>
            <a:ext cx="6629234" cy="372894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79393" y="5436797"/>
            <a:ext cx="7416614" cy="152396"/>
          </a:xfrm>
          <a:prstGeom prst="roundRect">
            <a:avLst>
              <a:gd name="adj" fmla="val 50000"/>
            </a:avLst>
          </a:prstGeom>
          <a:solidFill>
            <a:srgbClr val="B8C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57908" y="1428460"/>
            <a:ext cx="4013099" cy="2290705"/>
          </a:xfrm>
          <a:prstGeom prst="roundRect">
            <a:avLst>
              <a:gd name="adj" fmla="val 4435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julie-cut-75s-16x9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696007" y="1466559"/>
            <a:ext cx="3936901" cy="22145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05512" y="3744564"/>
            <a:ext cx="4317892" cy="4236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Julie's film adapted to the masterclass · 75 s · also 60 / 45 s in 4 ratios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5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Masterclass · banners and Reels with music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1100300"/>
            <a:ext cx="11124921" cy="2392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3D4B5F"/>
                </a:solidFill>
                <a:latin typeface="Poppins"/>
              </a:rPr>
              <a:t>Four designs in every Meta size · 9:16 Reels cut to Julie's film soundtrack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pic>
        <p:nvPicPr>
          <p:cNvPr id="7" name="Picture 6" descr="crop_card-gold-1080x1080.jpg_300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86" y="1466559"/>
            <a:ext cx="1904952" cy="1904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386" y="3409610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card-gold</a:t>
            </a:r>
          </a:p>
        </p:txBody>
      </p:sp>
      <p:pic>
        <p:nvPicPr>
          <p:cNvPr id="11" name="Picture 10" descr="crop_card-blue-1080x1080.jpg_300x3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35" y="1466559"/>
            <a:ext cx="1904952" cy="19049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78035" y="3409610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card-blue</a:t>
            </a:r>
          </a:p>
        </p:txBody>
      </p:sp>
      <p:pic>
        <p:nvPicPr>
          <p:cNvPr id="15" name="Picture 14" descr="crop_zoom-gold-1080x1080.jpg_300x3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386" y="3828700"/>
            <a:ext cx="1904952" cy="1904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3386" y="5771751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zoom-gold</a:t>
            </a:r>
          </a:p>
        </p:txBody>
      </p:sp>
      <p:pic>
        <p:nvPicPr>
          <p:cNvPr id="19" name="Picture 18" descr="crop_zoom-blue-1080x1080.jpg_300x3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035" y="3828700"/>
            <a:ext cx="1904952" cy="1904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78035" y="5771751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zoom-blue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78275" y="1466559"/>
            <a:ext cx="2031949" cy="4063898"/>
          </a:xfrm>
          <a:prstGeom prst="roundRect">
            <a:avLst>
              <a:gd name="adj" fmla="val 12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reels-card-gold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041773" y="1530057"/>
            <a:ext cx="1904952" cy="393690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724281" y="5593956"/>
            <a:ext cx="2539936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card-gold Reels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89617" y="1466559"/>
            <a:ext cx="2031949" cy="4063898"/>
          </a:xfrm>
          <a:prstGeom prst="roundRect">
            <a:avLst>
              <a:gd name="adj" fmla="val 12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reels-card-blue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7353116" y="1530057"/>
            <a:ext cx="1904952" cy="393690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035624" y="5593956"/>
            <a:ext cx="2539936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card-blue Reels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0959" y="1466559"/>
            <a:ext cx="2031949" cy="4063898"/>
          </a:xfrm>
          <a:prstGeom prst="roundRect">
            <a:avLst>
              <a:gd name="adj" fmla="val 12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reels-zoom-blue.mp4">
            <a:hlinkClick r:id="" action="ppaction://media"/>
          </p:cNvPr>
          <p:cNvPicPr>
            <a:picLocks noChangeAspect="1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9664458" y="1530057"/>
            <a:ext cx="1904952" cy="3936901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346966" y="5593956"/>
            <a:ext cx="2539936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zoom-blue Reels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4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6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Masterclass · eight presenter-video creatives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1100300"/>
            <a:ext cx="11124921" cy="2392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3D4B5F"/>
                </a:solidFill>
                <a:latin typeface="Poppins"/>
              </a:rPr>
              <a:t>Four examples from the eight-video presenter series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18 October 2026 · Sign-ups to date and operating targets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59808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ugc-w-five-habit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23306" y="1530057"/>
            <a:ext cx="2081477" cy="4289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313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Five habits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7676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ugc-m-deadlier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811174" y="1530057"/>
            <a:ext cx="2081477" cy="42899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57181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Deadlier than smoking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5544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ugc-w-dna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6299042" y="1530057"/>
            <a:ext cx="2081477" cy="42899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45048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DNA 3 years younger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23411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ugc-m-33years.mp4">
            <a:hlinkClick r:id="" action="ppaction://media"/>
          </p:cNvPr>
          <p:cNvPicPr>
            <a:picLocks noChangeAspect="1"/>
          </p:cNvPicPr>
          <p:nvPr>
            <a:vide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8786910" y="1530057"/>
            <a:ext cx="2081477" cy="428995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532916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33 years apart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video>
              <p:cMediaNode vol="80000">
                <p:cTn id="5" fill="hold" display="0">
                  <p:stCondLst>
                    <p:cond delay="indefinite"/>
                  </p:stCondLst>
                </p:cTn>
                <p:tgtEl>
                  <p:spTgt spid="2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