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78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jp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3.jpg"/><Relationship Id="rId8" Type="http://schemas.openxmlformats.org/officeDocument/2006/relationships/image" Target="../media/image4.jpg"/><Relationship Id="rId9" Type="http://schemas.openxmlformats.org/officeDocument/2006/relationships/image" Target="../media/image5.jpg"/><Relationship Id="rId10" Type="http://schemas.openxmlformats.org/officeDocument/2006/relationships/image" Target="../media/image6.jpg"/><Relationship Id="rId11" Type="http://schemas.openxmlformats.org/officeDocument/2006/relationships/image" Target="../media/image7.jpg"/><Relationship Id="rId12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9.jpg"/><Relationship Id="rId5" Type="http://schemas.microsoft.com/office/2007/relationships/media" Target="../media/media4.mp4"/><Relationship Id="rId6" Type="http://schemas.openxmlformats.org/officeDocument/2006/relationships/video" Target="../media/media4.mp4"/><Relationship Id="rId7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microsoft.com/office/2007/relationships/media" Target="../media/media5.mp4"/><Relationship Id="rId7" Type="http://schemas.openxmlformats.org/officeDocument/2006/relationships/video" Target="../media/media5.mp4"/><Relationship Id="rId8" Type="http://schemas.openxmlformats.org/officeDocument/2006/relationships/image" Target="../media/image15.jpg"/><Relationship Id="rId9" Type="http://schemas.microsoft.com/office/2007/relationships/media" Target="../media/media6.mp4"/><Relationship Id="rId10" Type="http://schemas.openxmlformats.org/officeDocument/2006/relationships/video" Target="../media/media6.mp4"/><Relationship Id="rId11" Type="http://schemas.openxmlformats.org/officeDocument/2006/relationships/image" Target="../media/image16.jpg"/><Relationship Id="rId12" Type="http://schemas.microsoft.com/office/2007/relationships/media" Target="../media/media7.mp4"/><Relationship Id="rId13" Type="http://schemas.openxmlformats.org/officeDocument/2006/relationships/video" Target="../media/media7.mp4"/><Relationship Id="rId14" Type="http://schemas.openxmlformats.org/officeDocument/2006/relationships/image" Target="../media/image1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18.jpg"/><Relationship Id="rId5" Type="http://schemas.microsoft.com/office/2007/relationships/media" Target="../media/media9.mp4"/><Relationship Id="rId6" Type="http://schemas.openxmlformats.org/officeDocument/2006/relationships/video" Target="../media/media9.mp4"/><Relationship Id="rId7" Type="http://schemas.openxmlformats.org/officeDocument/2006/relationships/image" Target="../media/image19.jpg"/><Relationship Id="rId8" Type="http://schemas.microsoft.com/office/2007/relationships/media" Target="../media/media10.mp4"/><Relationship Id="rId9" Type="http://schemas.openxmlformats.org/officeDocument/2006/relationships/video" Target="../media/media10.mp4"/><Relationship Id="rId10" Type="http://schemas.openxmlformats.org/officeDocument/2006/relationships/image" Target="../media/image20.jpg"/><Relationship Id="rId11" Type="http://schemas.microsoft.com/office/2007/relationships/media" Target="../media/media11.mp4"/><Relationship Id="rId12" Type="http://schemas.openxmlformats.org/officeDocument/2006/relationships/video" Target="../media/media11.mp4"/><Relationship Id="rId13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42891"/>
            <a:ext cx="11124921" cy="1889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900" b="1">
                <a:solidFill>
                  <a:srgbClr val="1F6FB2"/>
                </a:solidFill>
                <a:latin typeface="Poppins"/>
              </a:rPr>
              <a:t>LONGEVITY LIFE ACADEMY · BOARD UPDATE · 18 OCTOBER 2026 · 1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571485"/>
            <a:ext cx="11124921" cy="4907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2700" b="1">
                <a:solidFill>
                  <a:srgbClr val="0F2A4A"/>
                </a:solidFill>
                <a:latin typeface="Poppins"/>
              </a:rPr>
              <a:t>What we built · three acquisition efforts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386" y="6553036"/>
            <a:ext cx="6349841" cy="172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800" b="0">
                <a:solidFill>
                  <a:srgbClr val="6B7A90"/>
                </a:solidFill>
                <a:latin typeface="Poppins"/>
              </a:rPr>
              <a:t>Longevity Life Academy · eTeacher Group · Board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8467" y="6553036"/>
            <a:ext cx="6349841" cy="172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Poppins"/>
              </a:rPr>
              <a:t>October 2026 operating targets · Launch assets: campaign library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386" y="1463040"/>
            <a:ext cx="304792" cy="304792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386" y="1463040"/>
            <a:ext cx="304792" cy="304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2000"/>
              </a:lnSpc>
            </a:pPr>
            <a:r>
              <a:rPr sz="11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75" y="1463040"/>
            <a:ext cx="7937301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0">
                <a:solidFill>
                  <a:srgbClr val="0F2A4A"/>
                </a:solidFill>
                <a:latin typeface="Poppins"/>
              </a:rPr>
              <a:t>Lead generation. Launched Julie and Courtney films, video cutdowns and static ads across Meta. Re-tuned the campaigns, then reduced volume to focus on e-commerce.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386" y="3063240"/>
            <a:ext cx="304792" cy="304792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386" y="3063240"/>
            <a:ext cx="304792" cy="304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2000"/>
              </a:lnSpc>
            </a:pPr>
            <a:r>
              <a:rPr sz="11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575" y="3063240"/>
            <a:ext cx="7937301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0">
                <a:solidFill>
                  <a:srgbClr val="0F2A4A"/>
                </a:solidFill>
                <a:latin typeface="Poppins"/>
              </a:rPr>
              <a:t>Blueprint e-commerce. Launched self-service checkout and the first 3 online sales. Rebuilding the funnel with new ads, adapted pricing and sharper urgency.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3386" y="4663440"/>
            <a:ext cx="304792" cy="304792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386" y="4663440"/>
            <a:ext cx="304792" cy="304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2000"/>
              </a:lnSpc>
            </a:pPr>
            <a:r>
              <a:rPr sz="11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575" y="4663440"/>
            <a:ext cx="7937301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0">
                <a:solidFill>
                  <a:srgbClr val="0F2A4A"/>
                </a:solidFill>
                <a:latin typeface="Poppins"/>
              </a:rPr>
              <a:t>Julie's Masterclass. Built from the ground up and launched 27 September: website, checkout and 45 emails. Launch creative: 66 ads across six test ad sets, presenter videos, banners, Reels and film cutdowns.</a:t>
            </a:r>
          </a:p>
        </p:txBody>
      </p:sp>
      <p:pic>
        <p:nvPicPr>
          <p:cNvPr id="18" name="Picture 17" descr="crop_julie_couch_a_web.jpg_360x7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365" y="1269968"/>
            <a:ext cx="2285942" cy="45718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42891"/>
            <a:ext cx="11124921" cy="1889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900" b="1">
                <a:solidFill>
                  <a:srgbClr val="1F6FB2"/>
                </a:solidFill>
                <a:latin typeface="Poppins"/>
              </a:rPr>
              <a:t>LONGEVITY LIFE ACADEMY · BOARD UPDATE · 18 OCTOBER 2026 · 2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571485"/>
            <a:ext cx="11124921" cy="4907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F2A4A"/>
                </a:solidFill>
                <a:latin typeface="Poppins"/>
              </a:rPr>
              <a:t>Next phase · fill both dates and grow Blueprint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386" y="6553036"/>
            <a:ext cx="6349841" cy="172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800" b="0">
                <a:solidFill>
                  <a:srgbClr val="6B7A90"/>
                </a:solidFill>
                <a:latin typeface="Poppins"/>
              </a:rPr>
              <a:t>Longevity Life Academy · eTeacher Group · Board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8467" y="6553036"/>
            <a:ext cx="6349841" cy="172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Poppins"/>
              </a:rPr>
              <a:t>October 2026 operating targets · Launch assets: campaign library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386" y="1201897"/>
            <a:ext cx="2695507" cy="1269968"/>
          </a:xfrm>
          <a:prstGeom prst="roundRect">
            <a:avLst>
              <a:gd name="adj" fmla="val 1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782" y="1316195"/>
            <a:ext cx="2390715" cy="1523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9FC0E6"/>
                </a:solidFill>
                <a:latin typeface="Poppins"/>
              </a:rPr>
              <a:t>COMBINED SIGN-UP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782" y="1493990"/>
            <a:ext cx="2390715" cy="5333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Poppins"/>
              </a:rPr>
              <a:t>700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782" y="2065476"/>
            <a:ext cx="2390715" cy="3555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Poppins"/>
              </a:rPr>
              <a:t>Across the two masterclass 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3191" y="1201897"/>
            <a:ext cx="2695507" cy="1269968"/>
          </a:xfrm>
          <a:prstGeom prst="roundRect">
            <a:avLst>
              <a:gd name="adj" fmla="val 10000"/>
            </a:avLst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5587" y="1316195"/>
            <a:ext cx="2390715" cy="1523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6B7A90"/>
                </a:solidFill>
                <a:latin typeface="Poppins"/>
              </a:rPr>
              <a:t>27 OCTOBER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5587" y="1493990"/>
            <a:ext cx="2390715" cy="5333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F7B4F"/>
                </a:solidFill>
                <a:latin typeface="Poppins"/>
              </a:rPr>
              <a:t>350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5587" y="2065476"/>
            <a:ext cx="2390715" cy="3555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3D4B5F"/>
                </a:solidFill>
                <a:latin typeface="Poppins"/>
              </a:rPr>
              <a:t>Masterclass sign-ups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2996" y="1201897"/>
            <a:ext cx="2695507" cy="1269968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5392" y="1316195"/>
            <a:ext cx="2390715" cy="1523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6B7A90"/>
                </a:solidFill>
                <a:latin typeface="Poppins"/>
              </a:rPr>
              <a:t>14 NOVEMBER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5392" y="1493990"/>
            <a:ext cx="2390715" cy="5333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F2A4A"/>
                </a:solidFill>
                <a:latin typeface="Poppins"/>
              </a:rPr>
              <a:t>350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5392" y="2065476"/>
            <a:ext cx="2390715" cy="3555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3D4B5F"/>
                </a:solidFill>
                <a:latin typeface="Poppins"/>
              </a:rPr>
              <a:t>Masterclass sign-ups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2800" y="1201897"/>
            <a:ext cx="2695507" cy="1269968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5197" y="1316195"/>
            <a:ext cx="2390715" cy="1523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6B7A90"/>
                </a:solidFill>
                <a:latin typeface="Poppins"/>
              </a:rPr>
              <a:t>BLUEPRINT CONVERSION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5197" y="1493990"/>
            <a:ext cx="2390715" cy="5333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F2A4A"/>
                </a:solidFill>
                <a:latin typeface="Poppins"/>
              </a:rPr>
              <a:t>1 in 10–12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5197" y="2065476"/>
            <a:ext cx="2390715" cy="3555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3D4B5F"/>
                </a:solidFill>
                <a:latin typeface="Poppins"/>
              </a:rPr>
              <a:t>Masterclass buyer → full-course buyer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3386" y="2611562"/>
            <a:ext cx="3615176" cy="3827176"/>
          </a:xfrm>
          <a:prstGeom prst="roundRect">
            <a:avLst>
              <a:gd name="adj" fmla="val 4215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881" y="2776658"/>
            <a:ext cx="3234185" cy="3063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2A4A"/>
                </a:solidFill>
                <a:latin typeface="Poppins"/>
              </a:rPr>
              <a:t>1 · Lead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881" y="3108374"/>
            <a:ext cx="3234185" cy="1973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7A90"/>
                </a:solidFill>
                <a:latin typeface="Poppins"/>
              </a:rPr>
              <a:t>Re-tune; keep volume controlled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881" y="3394625"/>
            <a:ext cx="3234185" cy="20382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A2433"/>
                </a:solidFill>
                <a:latin typeface="Poppins"/>
              </a:rPr>
              <a:t>•  Julie and Courtney videos, cutdowns and static ads.
•  Reduce volume to prioritise e-commerce.
•  Refine targeting and creative using sales feedback.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8259" y="2611562"/>
            <a:ext cx="3615176" cy="3827176"/>
          </a:xfrm>
          <a:prstGeom prst="roundRect">
            <a:avLst>
              <a:gd name="adj" fmla="val 4215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78754" y="2776658"/>
            <a:ext cx="3234185" cy="3063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2A4A"/>
                </a:solidFill>
                <a:latin typeface="Poppins"/>
              </a:rPr>
              <a:t>2 · Blueprint e-commerce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8754" y="3108374"/>
            <a:ext cx="3234185" cy="1973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7A90"/>
                </a:solidFill>
                <a:latin typeface="Poppins"/>
              </a:rPr>
              <a:t>Convert interest into course sales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8754" y="3394625"/>
            <a:ext cx="3234185" cy="22143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A2433"/>
                </a:solidFill>
                <a:latin typeface="Poppins"/>
              </a:rPr>
              <a:t>•  Sharpen the offer, landing page and checkout journey.
•  Refresh creative across video, Reels and static formats.
•  Convert masterclass buyers via sales follow-up and direct checkout.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3132" y="2611562"/>
            <a:ext cx="3615176" cy="3827176"/>
          </a:xfrm>
          <a:prstGeom prst="roundRect">
            <a:avLst>
              <a:gd name="adj" fmla="val 4215"/>
            </a:avLst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3627" y="2776658"/>
            <a:ext cx="3234185" cy="3063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2A4A"/>
                </a:solidFill>
                <a:latin typeface="Poppins"/>
              </a:rPr>
              <a:t>3 · Julie's Masterclass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3627" y="3108374"/>
            <a:ext cx="3234185" cy="1973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7A90"/>
                </a:solidFill>
                <a:latin typeface="Poppins"/>
              </a:rPr>
              <a:t>Fill both dates; build the buyer 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3627" y="3394625"/>
            <a:ext cx="3234185" cy="23903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A2433"/>
                </a:solidFill>
                <a:latin typeface="Poppins"/>
              </a:rPr>
              <a:t>•  Drive sign-ups with the full paid-creative library.
•  Launch the 72-hour IIBS, Rosen and Longevity email blitz.
•  Follow up with buyers to reach the Blueprint conversion target.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42891"/>
            <a:ext cx="11124921" cy="1889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900" b="1">
                <a:solidFill>
                  <a:srgbClr val="1F6FB2"/>
                </a:solidFill>
                <a:latin typeface="Poppins"/>
              </a:rPr>
              <a:t>LONGEVITY LIFE ACADEMY · BOARD UPDATE · 18 OCTOBER 2026 · 3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571485"/>
            <a:ext cx="11124921" cy="4907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2700" b="1">
                <a:solidFill>
                  <a:srgbClr val="0F2A4A"/>
                </a:solidFill>
                <a:latin typeface="Poppins"/>
              </a:rPr>
              <a:t>Round 1 · films and ads until September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386" y="6553036"/>
            <a:ext cx="6349841" cy="172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800" b="0">
                <a:solidFill>
                  <a:srgbClr val="6B7A90"/>
                </a:solidFill>
                <a:latin typeface="Poppins"/>
              </a:rPr>
              <a:t>Longevity Life Academy · eTeacher Group · Board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8467" y="6553036"/>
            <a:ext cx="6349841" cy="172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Poppins"/>
              </a:rPr>
              <a:t>October 2026 operating targets · Launch assets: campaign library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7683" y="1163798"/>
            <a:ext cx="5346566" cy="3040780"/>
          </a:xfrm>
          <a:prstGeom prst="roundRect">
            <a:avLst>
              <a:gd name="adj" fmla="val 3341"/>
            </a:avLst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julie-film-full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85782" y="1201897"/>
            <a:ext cx="5270368" cy="29645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5287" y="4229978"/>
            <a:ext cx="5651358" cy="230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2000"/>
              </a:lnSpc>
            </a:pPr>
            <a:r>
              <a:rPr sz="1150" b="1">
                <a:solidFill>
                  <a:srgbClr val="3D4B5F"/>
                </a:solidFill>
                <a:latin typeface="Poppins"/>
              </a:rPr>
              <a:t>Julie Gibson Clark · full film · 2:19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7445" y="1163798"/>
            <a:ext cx="5346566" cy="3040780"/>
          </a:xfrm>
          <a:prstGeom prst="roundRect">
            <a:avLst>
              <a:gd name="adj" fmla="val 3341"/>
            </a:avLst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courtney-full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35544" y="1201897"/>
            <a:ext cx="5270368" cy="29645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45048" y="4229978"/>
            <a:ext cx="5651358" cy="230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2000"/>
              </a:lnSpc>
            </a:pPr>
            <a:r>
              <a:rPr sz="1150" b="1">
                <a:solidFill>
                  <a:srgbClr val="3D4B5F"/>
                </a:solidFill>
                <a:latin typeface="Poppins"/>
              </a:rPr>
              <a:t>Courtney · full film</a:t>
            </a:r>
          </a:p>
        </p:txBody>
      </p:sp>
      <p:pic>
        <p:nvPicPr>
          <p:cNvPr id="12" name="Picture 11" descr="crop_LLA_JULIE_1x1_1080x1080.jpg_230x23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8582" y="4585569"/>
            <a:ext cx="1460463" cy="14604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71586" y="6096831"/>
            <a:ext cx="1714457" cy="230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2000"/>
              </a:lnSpc>
            </a:pPr>
            <a:r>
              <a:rPr sz="1150" b="1">
                <a:solidFill>
                  <a:srgbClr val="3D4B5F"/>
                </a:solidFill>
                <a:latin typeface="Poppins"/>
              </a:rPr>
              <a:t>Blueprint · Julie</a:t>
            </a:r>
          </a:p>
        </p:txBody>
      </p:sp>
      <p:pic>
        <p:nvPicPr>
          <p:cNvPr id="14" name="Picture 13" descr="crop_LLA_COURTNEY_1x1_1080x1080.jpg_230x23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9541" y="4585569"/>
            <a:ext cx="1460463" cy="146046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922544" y="6096831"/>
            <a:ext cx="1714457" cy="230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2000"/>
              </a:lnSpc>
            </a:pPr>
            <a:r>
              <a:rPr sz="1150" b="1">
                <a:solidFill>
                  <a:srgbClr val="3D4B5F"/>
                </a:solidFill>
                <a:latin typeface="Poppins"/>
              </a:rPr>
              <a:t>Blueprint · Courtney</a:t>
            </a:r>
          </a:p>
        </p:txBody>
      </p:sp>
      <p:pic>
        <p:nvPicPr>
          <p:cNvPr id="16" name="Picture 15" descr="crop_blueprint-julie-ad6-static.jpg_230x230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0500" y="4585569"/>
            <a:ext cx="1460463" cy="146046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3503" y="6096831"/>
            <a:ext cx="1714457" cy="230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2000"/>
              </a:lnSpc>
            </a:pPr>
            <a:r>
              <a:rPr sz="1150" b="1">
                <a:solidFill>
                  <a:srgbClr val="3D4B5F"/>
                </a:solidFill>
                <a:latin typeface="Poppins"/>
              </a:rPr>
              <a:t>Blueprint · Ad#6</a:t>
            </a:r>
          </a:p>
        </p:txBody>
      </p:sp>
      <p:pic>
        <p:nvPicPr>
          <p:cNvPr id="18" name="Picture 17" descr="crop_lead-courtney-ad3-static.jpg_230x23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1459" y="4585569"/>
            <a:ext cx="1460463" cy="146046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24462" y="6096831"/>
            <a:ext cx="1714457" cy="230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2000"/>
              </a:lnSpc>
            </a:pPr>
            <a:r>
              <a:rPr sz="1150" b="1">
                <a:solidFill>
                  <a:srgbClr val="3D4B5F"/>
                </a:solidFill>
                <a:latin typeface="Poppins"/>
              </a:rPr>
              <a:t>Lead gen · Ad#3</a:t>
            </a:r>
          </a:p>
        </p:txBody>
      </p:sp>
      <p:pic>
        <p:nvPicPr>
          <p:cNvPr id="20" name="Picture 19" descr="crop_lead-courtney-ad7-static.jpg_439.49044585987264x230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2417" y="4585569"/>
            <a:ext cx="2790694" cy="146046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875420" y="6096831"/>
            <a:ext cx="3044688" cy="230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2000"/>
              </a:lnSpc>
            </a:pPr>
            <a:r>
              <a:rPr sz="1150" b="1">
                <a:solidFill>
                  <a:srgbClr val="3D4B5F"/>
                </a:solidFill>
                <a:latin typeface="Poppins"/>
              </a:rPr>
              <a:t>Lead gen · Ad#7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42891"/>
            <a:ext cx="11124921" cy="1889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900" b="1">
                <a:solidFill>
                  <a:srgbClr val="1F6FB2"/>
                </a:solidFill>
                <a:latin typeface="Poppins"/>
              </a:rPr>
              <a:t>LONGEVITY LIFE ACADEMY · BOARD UPDATE · 18 OCTOBER 2026 · 4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571485"/>
            <a:ext cx="11124921" cy="4907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2700" b="1">
                <a:solidFill>
                  <a:srgbClr val="0F2A4A"/>
                </a:solidFill>
                <a:latin typeface="Poppins"/>
              </a:rPr>
              <a:t>Masterclass · the website and Julie's adapted film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386" y="1100300"/>
            <a:ext cx="11124921" cy="239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3D4B5F"/>
                </a:solidFill>
                <a:latin typeface="Poppins"/>
              </a:rPr>
              <a:t>longevitylifeacademy.com/julie-masterclass · 60 s walkthrough: hero → dates → VIP seat →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553036"/>
            <a:ext cx="6349841" cy="172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800" b="0">
                <a:solidFill>
                  <a:srgbClr val="6B7A90"/>
                </a:solidFill>
                <a:latin typeface="Poppins"/>
              </a:rPr>
              <a:t>Longevity Life Academy · eTeacher Group · Board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8467" y="6553036"/>
            <a:ext cx="6349841" cy="172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Poppins"/>
              </a:rPr>
              <a:t>October 2026 operating targets · Launch assets: campaign library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8786" y="1466559"/>
            <a:ext cx="6857828" cy="3970238"/>
          </a:xfrm>
          <a:prstGeom prst="roundRect">
            <a:avLst>
              <a:gd name="adj" fmla="val 3838"/>
            </a:avLst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website-walkthrough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3083" y="1580856"/>
            <a:ext cx="6629234" cy="372894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79393" y="5436797"/>
            <a:ext cx="7416614" cy="152396"/>
          </a:xfrm>
          <a:prstGeom prst="roundRect">
            <a:avLst>
              <a:gd name="adj" fmla="val 50000"/>
            </a:avLst>
          </a:prstGeom>
          <a:solidFill>
            <a:srgbClr val="B8C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57908" y="1428460"/>
            <a:ext cx="4013099" cy="2290705"/>
          </a:xfrm>
          <a:prstGeom prst="roundRect">
            <a:avLst>
              <a:gd name="adj" fmla="val 4435"/>
            </a:avLst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julie-cut-75s-16x9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696007" y="1466559"/>
            <a:ext cx="3936901" cy="22145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05512" y="3744564"/>
            <a:ext cx="4317892" cy="4236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2000"/>
              </a:lnSpc>
            </a:pPr>
            <a:r>
              <a:rPr sz="1150" b="1">
                <a:solidFill>
                  <a:srgbClr val="3D4B5F"/>
                </a:solidFill>
                <a:latin typeface="Poppins"/>
              </a:rPr>
              <a:t>Julie's film adapted to the masterclass · 75 s · also 60 / 45 s in 4 ratios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42891"/>
            <a:ext cx="11124921" cy="1889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900" b="1">
                <a:solidFill>
                  <a:srgbClr val="1F6FB2"/>
                </a:solidFill>
                <a:latin typeface="Poppins"/>
              </a:rPr>
              <a:t>LONGEVITY LIFE ACADEMY · BOARD UPDATE · 18 OCTOBER 2026 · 5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571485"/>
            <a:ext cx="11124921" cy="4907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2700" b="1">
                <a:solidFill>
                  <a:srgbClr val="0F2A4A"/>
                </a:solidFill>
                <a:latin typeface="Poppins"/>
              </a:rPr>
              <a:t>Masterclass · banners and Reels with music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386" y="1100300"/>
            <a:ext cx="11124921" cy="239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3D4B5F"/>
                </a:solidFill>
                <a:latin typeface="Poppins"/>
              </a:rPr>
              <a:t>Four designs in every Meta size · 9:16 Reels cut to Julie's film soundtrack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553036"/>
            <a:ext cx="6349841" cy="172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800" b="0">
                <a:solidFill>
                  <a:srgbClr val="6B7A90"/>
                </a:solidFill>
                <a:latin typeface="Poppins"/>
              </a:rPr>
              <a:t>Longevity Life Academy · eTeacher Group · Board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8467" y="6553036"/>
            <a:ext cx="6349841" cy="172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Poppins"/>
              </a:rPr>
              <a:t>October 2026 operating targets · Launch assets: campaign library</a:t>
            </a:r>
          </a:p>
        </p:txBody>
      </p:sp>
      <p:pic>
        <p:nvPicPr>
          <p:cNvPr id="7" name="Picture 6" descr="crop_card-gold-1080x1080.jpg_300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86" y="1466559"/>
            <a:ext cx="1904952" cy="19049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386" y="3409610"/>
            <a:ext cx="1904952" cy="230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2000"/>
              </a:lnSpc>
            </a:pPr>
            <a:r>
              <a:rPr sz="1150" b="1">
                <a:solidFill>
                  <a:srgbClr val="3D4B5F"/>
                </a:solidFill>
                <a:latin typeface="Poppins"/>
              </a:rPr>
              <a:t>card-gold</a:t>
            </a:r>
          </a:p>
        </p:txBody>
      </p:sp>
      <p:pic>
        <p:nvPicPr>
          <p:cNvPr id="11" name="Picture 10" descr="crop_card-blue-1080x1080.jpg_300x3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035" y="1466559"/>
            <a:ext cx="1904952" cy="19049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78035" y="3409610"/>
            <a:ext cx="1904952" cy="230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2000"/>
              </a:lnSpc>
            </a:pPr>
            <a:r>
              <a:rPr sz="1150" b="1">
                <a:solidFill>
                  <a:srgbClr val="3D4B5F"/>
                </a:solidFill>
                <a:latin typeface="Poppins"/>
              </a:rPr>
              <a:t>card-blue</a:t>
            </a:r>
          </a:p>
        </p:txBody>
      </p:sp>
      <p:pic>
        <p:nvPicPr>
          <p:cNvPr id="15" name="Picture 14" descr="crop_zoom-gold-1080x1080.jpg_300x3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86" y="3828700"/>
            <a:ext cx="1904952" cy="19049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386" y="5771751"/>
            <a:ext cx="1904952" cy="230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2000"/>
              </a:lnSpc>
            </a:pPr>
            <a:r>
              <a:rPr sz="1150" b="1">
                <a:solidFill>
                  <a:srgbClr val="3D4B5F"/>
                </a:solidFill>
                <a:latin typeface="Poppins"/>
              </a:rPr>
              <a:t>zoom-gold</a:t>
            </a:r>
          </a:p>
        </p:txBody>
      </p:sp>
      <p:pic>
        <p:nvPicPr>
          <p:cNvPr id="19" name="Picture 18" descr="crop_zoom-blue-1080x1080.jpg_300x3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035" y="3828700"/>
            <a:ext cx="1904952" cy="190495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578035" y="5771751"/>
            <a:ext cx="1904952" cy="230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2000"/>
              </a:lnSpc>
            </a:pPr>
            <a:r>
              <a:rPr sz="1150" b="1">
                <a:solidFill>
                  <a:srgbClr val="3D4B5F"/>
                </a:solidFill>
                <a:latin typeface="Poppins"/>
              </a:rPr>
              <a:t>zoom-blue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78275" y="1466559"/>
            <a:ext cx="2031949" cy="4063898"/>
          </a:xfrm>
          <a:prstGeom prst="roundRect">
            <a:avLst>
              <a:gd name="adj" fmla="val 12500"/>
            </a:avLst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reels-card-gold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041773" y="1530057"/>
            <a:ext cx="1904952" cy="393690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724281" y="5593956"/>
            <a:ext cx="2539936" cy="230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2000"/>
              </a:lnSpc>
            </a:pPr>
            <a:r>
              <a:rPr sz="1150" b="1">
                <a:solidFill>
                  <a:srgbClr val="3D4B5F"/>
                </a:solidFill>
                <a:latin typeface="Poppins"/>
              </a:rPr>
              <a:t>card-gold Reels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89617" y="1466559"/>
            <a:ext cx="2031949" cy="4063898"/>
          </a:xfrm>
          <a:prstGeom prst="roundRect">
            <a:avLst>
              <a:gd name="adj" fmla="val 12500"/>
            </a:avLst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reels-card-blue.mp4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7353116" y="1530057"/>
            <a:ext cx="1904952" cy="393690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035624" y="5593956"/>
            <a:ext cx="2539936" cy="230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2000"/>
              </a:lnSpc>
            </a:pPr>
            <a:r>
              <a:rPr sz="1150" b="1">
                <a:solidFill>
                  <a:srgbClr val="3D4B5F"/>
                </a:solidFill>
                <a:latin typeface="Poppins"/>
              </a:rPr>
              <a:t>card-blue Reels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0959" y="1466559"/>
            <a:ext cx="2031949" cy="4063898"/>
          </a:xfrm>
          <a:prstGeom prst="roundRect">
            <a:avLst>
              <a:gd name="adj" fmla="val 12500"/>
            </a:avLst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reels-zoom-blue.mp4">
            <a:hlinkClick r:id="" action="ppaction://media"/>
          </p:cNvPr>
          <p:cNvPicPr>
            <a:picLocks noChangeAspect="1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9664458" y="1530057"/>
            <a:ext cx="1904952" cy="393690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346966" y="5593956"/>
            <a:ext cx="2539936" cy="230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2000"/>
              </a:lnSpc>
            </a:pPr>
            <a:r>
              <a:rPr sz="1150" b="1">
                <a:solidFill>
                  <a:srgbClr val="3D4B5F"/>
                </a:solidFill>
                <a:latin typeface="Poppins"/>
              </a:rPr>
              <a:t>zoom-blue Reels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3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42891"/>
            <a:ext cx="11124921" cy="1889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900" b="1">
                <a:solidFill>
                  <a:srgbClr val="1F6FB2"/>
                </a:solidFill>
                <a:latin typeface="Poppins"/>
              </a:rPr>
              <a:t>LONGEVITY LIFE ACADEMY · BOARD UPDATE · 18 OCTOBER 2026 · 6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571485"/>
            <a:ext cx="11124921" cy="4907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2700" b="1">
                <a:solidFill>
                  <a:srgbClr val="0F2A4A"/>
                </a:solidFill>
                <a:latin typeface="Poppins"/>
              </a:rPr>
              <a:t>Masterclass · eight presenter-video creatives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386" y="1100300"/>
            <a:ext cx="11124921" cy="239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3D4B5F"/>
                </a:solidFill>
                <a:latin typeface="Poppins"/>
              </a:rPr>
              <a:t>Four examples from the eight-video presenter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553036"/>
            <a:ext cx="6349841" cy="172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800" b="0">
                <a:solidFill>
                  <a:srgbClr val="6B7A90"/>
                </a:solidFill>
                <a:latin typeface="Poppins"/>
              </a:rPr>
              <a:t>Longevity Life Academy · eTeacher Group · Board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8467" y="6553036"/>
            <a:ext cx="6349841" cy="172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Poppins"/>
              </a:rPr>
              <a:t>October 2026 operating targets · Launch assets: campaign library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59808" y="1466559"/>
            <a:ext cx="2208474" cy="4416949"/>
          </a:xfrm>
          <a:prstGeom prst="roundRect">
            <a:avLst>
              <a:gd name="adj" fmla="val 11500"/>
            </a:avLst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ugc-w-five-habit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23306" y="1530057"/>
            <a:ext cx="2081477" cy="4289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9313" y="5947007"/>
            <a:ext cx="2589465" cy="230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2000"/>
              </a:lnSpc>
            </a:pPr>
            <a:r>
              <a:rPr sz="1150" b="1">
                <a:solidFill>
                  <a:srgbClr val="3D4B5F"/>
                </a:solidFill>
                <a:latin typeface="Poppins"/>
              </a:rPr>
              <a:t>Five habits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7676" y="1466559"/>
            <a:ext cx="2208474" cy="4416949"/>
          </a:xfrm>
          <a:prstGeom prst="roundRect">
            <a:avLst>
              <a:gd name="adj" fmla="val 11500"/>
            </a:avLst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ugc-m-deadlier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811174" y="1530057"/>
            <a:ext cx="2081477" cy="42899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57181" y="5947007"/>
            <a:ext cx="2589465" cy="230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2000"/>
              </a:lnSpc>
            </a:pPr>
            <a:r>
              <a:rPr sz="1150" b="1">
                <a:solidFill>
                  <a:srgbClr val="3D4B5F"/>
                </a:solidFill>
                <a:latin typeface="Poppins"/>
              </a:rPr>
              <a:t>Deadlier than smoking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5544" y="1466559"/>
            <a:ext cx="2208474" cy="4416949"/>
          </a:xfrm>
          <a:prstGeom prst="roundRect">
            <a:avLst>
              <a:gd name="adj" fmla="val 11500"/>
            </a:avLst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ugc-w-dna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299042" y="1530057"/>
            <a:ext cx="2081477" cy="42899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45048" y="5947007"/>
            <a:ext cx="2589465" cy="230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2000"/>
              </a:lnSpc>
            </a:pPr>
            <a:r>
              <a:rPr sz="1150" b="1">
                <a:solidFill>
                  <a:srgbClr val="3D4B5F"/>
                </a:solidFill>
                <a:latin typeface="Poppins"/>
              </a:rPr>
              <a:t>DNA 3 years younger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23411" y="1466559"/>
            <a:ext cx="2208474" cy="4416949"/>
          </a:xfrm>
          <a:prstGeom prst="roundRect">
            <a:avLst>
              <a:gd name="adj" fmla="val 11500"/>
            </a:avLst>
          </a:prstGeom>
          <a:solidFill>
            <a:srgbClr val="0B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ugc-m-33years.mp4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8786910" y="1530057"/>
            <a:ext cx="2081477" cy="428995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532916" y="5947007"/>
            <a:ext cx="2589465" cy="230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2000"/>
              </a:lnSpc>
            </a:pPr>
            <a:r>
              <a:rPr sz="1150" b="1">
                <a:solidFill>
                  <a:srgbClr val="3D4B5F"/>
                </a:solidFill>
                <a:latin typeface="Poppins"/>
              </a:rPr>
              <a:t>33 years apart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