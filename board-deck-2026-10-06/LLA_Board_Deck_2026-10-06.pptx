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62" r:id="rId17"/>
    <p:sldId id="263" r:id="rId18"/>
    <p:sldId id="256" r:id="rId7"/>
    <p:sldId id="257" r:id="rId8"/>
    <p:sldId id="258" r:id="rId9"/>
    <p:sldId id="259" r:id="rId10"/>
    <p:sldId id="260" r:id="rId11"/>
    <p:sldId id="261" r:id="rId12"/>
  </p:sldIdLst>
  <p:sldSz cx="12191695" cy="6857828" type="screen4x3"/>
  <p:notesSz cx="6858000" cy="9144000"/>
  <p:embeddedFontLst>
    <p:embeddedFont>
      <p:font typeface="Poppins" pitchFamily="34" charset="0"/>
      <p:regular r:id="rIdPoppinsRegular"/>
      <p:bold r:id="rIdPoppinsBold"/>
      <p:italic r:id="rIdPoppinsItalic"/>
      <p:boldItalic r:id="rIdPoppinsBoldItalic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PoppinsBold" Type="http://schemas.openxmlformats.org/officeDocument/2006/relationships/font" Target="fonts/Poppins-Bold.fntdata"/><Relationship Id="rIdPoppinsBoldItalic" Type="http://schemas.openxmlformats.org/officeDocument/2006/relationships/font" Target="fonts/Poppins-BoldItalic.fntdata"/><Relationship Id="rIdPoppinsItalic" Type="http://schemas.openxmlformats.org/officeDocument/2006/relationships/font" Target="fonts/Poppins-Italic.fntdata"/><Relationship Id="rIdPoppinsRegular" Type="http://schemas.openxmlformats.org/officeDocument/2006/relationships/font" Target="fonts/Poppins-Regular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7" Type="http://schemas.openxmlformats.org/officeDocument/2006/relationships/slide" Target="slides/slide1.xml"/><Relationship Id="rId1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.jpg"/><Relationship Id="rId8" Type="http://schemas.openxmlformats.org/officeDocument/2006/relationships/image" Target="../media/image4.jpg"/><Relationship Id="rId9" Type="http://schemas.openxmlformats.org/officeDocument/2006/relationships/image" Target="../media/image5.jpg"/><Relationship Id="rId10" Type="http://schemas.openxmlformats.org/officeDocument/2006/relationships/image" Target="../media/image6.jpg"/><Relationship Id="rId11" Type="http://schemas.openxmlformats.org/officeDocument/2006/relationships/image" Target="../media/image7.jpg"/><Relationship Id="rId12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jp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5.jpg"/><Relationship Id="rId9" Type="http://schemas.microsoft.com/office/2007/relationships/media" Target="../media/media6.mp4"/><Relationship Id="rId10" Type="http://schemas.openxmlformats.org/officeDocument/2006/relationships/video" Target="../media/media6.mp4"/><Relationship Id="rId11" Type="http://schemas.openxmlformats.org/officeDocument/2006/relationships/image" Target="../media/image16.jpg"/><Relationship Id="rId12" Type="http://schemas.microsoft.com/office/2007/relationships/media" Target="../media/media7.mp4"/><Relationship Id="rId13" Type="http://schemas.openxmlformats.org/officeDocument/2006/relationships/video" Target="../media/media7.mp4"/><Relationship Id="rId14" Type="http://schemas.openxmlformats.org/officeDocument/2006/relationships/image" Target="../media/image1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18.jpg"/><Relationship Id="rId5" Type="http://schemas.microsoft.com/office/2007/relationships/media" Target="../media/media9.mp4"/><Relationship Id="rId6" Type="http://schemas.openxmlformats.org/officeDocument/2006/relationships/video" Target="../media/media9.mp4"/><Relationship Id="rId7" Type="http://schemas.openxmlformats.org/officeDocument/2006/relationships/image" Target="../media/image19.jpg"/><Relationship Id="rId8" Type="http://schemas.microsoft.com/office/2007/relationships/media" Target="../media/media10.mp4"/><Relationship Id="rId9" Type="http://schemas.openxmlformats.org/officeDocument/2006/relationships/video" Target="../media/media10.mp4"/><Relationship Id="rId10" Type="http://schemas.openxmlformats.org/officeDocument/2006/relationships/image" Target="../media/image20.jpg"/><Relationship Id="rId11" Type="http://schemas.microsoft.com/office/2007/relationships/media" Target="../media/media11.mp4"/><Relationship Id="rId12" Type="http://schemas.openxmlformats.org/officeDocument/2006/relationships/video" Target="../media/media11.mp4"/><Relationship Id="rId1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3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built · three acquisition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4630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386" y="14630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14630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Lead generation. Launched Julie and Courtney films, video cutdowns and static campaigns. Re-tuned the activity, then deliberately reduced volume to prioritise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30632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386" y="30632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0632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Blueprint e-commerce. Launched a separate direct-purchase funnel and generated the first 3 online sales. Used the initial results to shape the relaunch.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386" y="46634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386" y="46634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6634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Julie’s Masterclass. Built bottom-up to grow a paying community that can later convert to the full Blueprint course. Launched the website, checkout and 45 emails, backed by 66 launch ads across six test ad sets: presenter videos, film cutdowns, Reels and statics.</a:t>
            </a:r>
          </a:p>
        </p:txBody>
      </p:sp>
      <p:pic>
        <p:nvPicPr>
          <p:cNvPr id="18" name="Picture 17" descr="crop_julie_couch_a_web.jpg_360x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65" y="1269968"/>
            <a:ext cx="2285942" cy="45718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4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A"/>
                </a:solidFill>
                <a:latin typeface="Poppins"/>
              </a:rPr>
              <a:t>Next phase · grow direct sales and the paying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78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9FC0E6"/>
                </a:solidFill>
                <a:latin typeface="Poppins"/>
              </a:rPr>
              <a:t>MASTERCLASS SIGN-UPS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Poppins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Poppins"/>
              </a:rPr>
              <a:t>As of 18 October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191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58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27 OCTOBER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58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7B4F"/>
                </a:solidFill>
                <a:latin typeface="Poppins"/>
              </a:rPr>
              <a:t>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558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39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14 NOVEMBER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39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39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700 combined by 14 November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2800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519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BLUEPRINT UPSELL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519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1 in 10–12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519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buyer → full-course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386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881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1 · Hybrid lead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1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E-commerce first; sales-assisted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1" y="3595793"/>
            <a:ext cx="3234185" cy="18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Maintain low-volume lead generation while prioritising e-commerce.
•  Send abandoned-cart prospects to sales for follow-up.
•  Combine direct purchases with sales-assisted conversions.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259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8754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2 · Blueprint relaunch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8754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Separate direct-sales funnel · this 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8754" y="3595793"/>
            <a:ext cx="3234185" cy="20131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Relaunch with an updated landing page and a new promotion.
•  Apply masterclass learnings to the offer and creative.
•  Add VIP: 2 CGMs + four 15-minute one-on-one teacher sessions, one per month.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132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3627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3 · Julie’s Masterclass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3627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Build the paying community; upsell Blueprint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627" y="3595793"/>
            <a:ext cx="3234185" cy="2189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Target 350 sign-ups per date: 700 total by 14 November.
•  Drive registrations with paid creative and the IIBS, Rosen and Longevity email blitz.
•  Convert 1 in 10–12 buyers to Blueprint through sales follow-up or direct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5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Round 1 · films and ads until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683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julie-film-fu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782" y="1201897"/>
            <a:ext cx="5270368" cy="2964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 Gibson Clark · full film · 2:19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445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urtney-full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5544" y="1201897"/>
            <a:ext cx="5270368" cy="29645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45048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Courtney · full film</a:t>
            </a:r>
          </a:p>
        </p:txBody>
      </p:sp>
      <p:pic>
        <p:nvPicPr>
          <p:cNvPr id="12" name="Picture 11" descr="crop_LLA_JULIE_1x1_1080x1080.jpg_230x2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8582" y="4585569"/>
            <a:ext cx="1460463" cy="146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586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Julie</a:t>
            </a:r>
          </a:p>
        </p:txBody>
      </p:sp>
      <p:pic>
        <p:nvPicPr>
          <p:cNvPr id="14" name="Picture 13" descr="crop_LLA_COURTNEY_1x1_1080x1080.jpg_230x2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9541" y="4585569"/>
            <a:ext cx="1460463" cy="1460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2544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Courtney</a:t>
            </a:r>
          </a:p>
        </p:txBody>
      </p:sp>
      <p:pic>
        <p:nvPicPr>
          <p:cNvPr id="16" name="Picture 15" descr="crop_blueprint-julie-ad6-static.jpg_230x2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500" y="4585569"/>
            <a:ext cx="1460463" cy="14604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3503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Ad#6</a:t>
            </a:r>
          </a:p>
        </p:txBody>
      </p:sp>
      <p:pic>
        <p:nvPicPr>
          <p:cNvPr id="18" name="Picture 17" descr="crop_lead-courtney-ad3-static.jpg_230x2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1459" y="4585569"/>
            <a:ext cx="1460463" cy="14604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4462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Ad#3</a:t>
            </a:r>
          </a:p>
        </p:txBody>
      </p:sp>
      <p:pic>
        <p:nvPicPr>
          <p:cNvPr id="20" name="Picture 19" descr="crop_lead-courtney-ad7-static.jpg_439.49044585987264x2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2417" y="4585569"/>
            <a:ext cx="2790694" cy="14604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75420" y="6096831"/>
            <a:ext cx="304468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6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the website and Julie's adapted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longevitylifeacademy.com/julie-masterclass · 60 s walkthrough: hero → dates → VIP seat →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786" y="1466559"/>
            <a:ext cx="6857828" cy="3970238"/>
          </a:xfrm>
          <a:prstGeom prst="roundRect">
            <a:avLst>
              <a:gd name="adj" fmla="val 3838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website-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083" y="1580856"/>
            <a:ext cx="6629234" cy="37289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79393" y="5436797"/>
            <a:ext cx="7416614" cy="152396"/>
          </a:xfrm>
          <a:prstGeom prst="roundRect">
            <a:avLst>
              <a:gd name="adj" fmla="val 50000"/>
            </a:avLst>
          </a:prstGeom>
          <a:solidFill>
            <a:srgbClr val="B8C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7908" y="1428460"/>
            <a:ext cx="4013099" cy="2290705"/>
          </a:xfrm>
          <a:prstGeom prst="roundRect">
            <a:avLst>
              <a:gd name="adj" fmla="val 4435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julie-cut-75s-16x9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696007" y="1466559"/>
            <a:ext cx="3936901" cy="22145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05512" y="3744564"/>
            <a:ext cx="4317892" cy="4236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Julie's film adapted to the masterclass · 75 s · also 60 / 45 s in 4 ratios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7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banners and Reels with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designs in every Meta size · 9:16 Reels cut to Julie's film soundtrack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pic>
        <p:nvPicPr>
          <p:cNvPr id="7" name="Picture 6" descr="crop_card-gold-1080x1080.jpg_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1466559"/>
            <a:ext cx="1904952" cy="1904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386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</a:t>
            </a:r>
          </a:p>
        </p:txBody>
      </p:sp>
      <p:pic>
        <p:nvPicPr>
          <p:cNvPr id="11" name="Picture 10" descr="crop_card-blue-1080x1080.jpg_300x3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5" y="1466559"/>
            <a:ext cx="1904952" cy="1904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8035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</a:t>
            </a:r>
          </a:p>
        </p:txBody>
      </p:sp>
      <p:pic>
        <p:nvPicPr>
          <p:cNvPr id="15" name="Picture 14" descr="crop_zoom-gold-1080x1080.jpg_300x3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6" y="3828700"/>
            <a:ext cx="1904952" cy="1904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386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zoom-gold</a:t>
            </a:r>
          </a:p>
        </p:txBody>
      </p:sp>
      <p:pic>
        <p:nvPicPr>
          <p:cNvPr id="19" name="Picture 18" descr="crop_zoom-blue-1080x1080.jpg_300x3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5" y="3828700"/>
            <a:ext cx="1904952" cy="1904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78035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275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reels-card-go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41773" y="1530057"/>
            <a:ext cx="1904952" cy="39369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4281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 Reels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617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reels-card-blue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353116" y="1530057"/>
            <a:ext cx="1904952" cy="393690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5624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 Reels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0959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reels-zoom-blue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664458" y="1530057"/>
            <a:ext cx="1904952" cy="393690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46966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 Reels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8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eight presenter-video creatives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examples from the eight-video presenter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9808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ugc-w-five-ha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23306" y="1530057"/>
            <a:ext cx="2081477" cy="4289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313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Five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7676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ugc-m-deadlier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811174" y="1530057"/>
            <a:ext cx="2081477" cy="4289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181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Deadlier than smoking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5544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ugc-w-dna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99042" y="1530057"/>
            <a:ext cx="2081477" cy="4289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45048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DNA 3 years younger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411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ugc-m-33years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786910" y="1530057"/>
            <a:ext cx="2081477" cy="4289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32916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33 years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