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Blueprint leads</c:v>
                </c:pt>
              </c:strCache>
            </c:strRef>
          </c:tx>
          <c:spPr>
            <a:solidFill>
              <a:srgbClr val="006EFF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9.0</c:v>
                </c:pt>
                <c:pt idx="1">
                  <c:v>21.0</c:v>
                </c:pt>
                <c:pt idx="2">
                  <c:v>48.0</c:v>
                </c:pt>
                <c:pt idx="3">
                  <c:v>21.0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Masterclass purchases</c:v>
                </c:pt>
              </c:strCache>
            </c:strRef>
          </c:tx>
          <c:spPr>
            <a:solidFill>
              <a:srgbClr val="9CC9FF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13.0</c:v>
                </c:pt>
                <c:pt idx="2">
                  <c:v>38.0</c:v>
                </c:pt>
                <c:pt idx="3">
                  <c:v>46.0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800" b="1">
                  <a:solidFill>
                    <a:srgbClr val="0F2445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0F2445"/>
                </a:solidFill>
                <a:latin typeface="Poppin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64.64375313597591"/>
          <c:min val="0.0"/>
        </c:scaling>
        <c:delete/>
        <c:axPos val="l"/>
        <c:majorTickMark val="out"/>
        <c:minorTickMark val="none"/>
        <c:tickLblPos val="nextTo"/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Blueprint leads</c:v>
                </c:pt>
              </c:strCache>
            </c:strRef>
          </c:tx>
          <c:spPr>
            <a:solidFill>
              <a:srgbClr val="006EFF"/>
            </a:solidFill>
          </c:spPr>
          <c:cat>
            <c:strRef>
              <c:f>Sheet1!$A$2:$A$3</c:f>
              <c:strCache>
                <c:ptCount val="2"/>
                <c:pt idx="0">
                  <c:v>Women</c:v>
                </c:pt>
                <c:pt idx="1">
                  <c:v>Men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73.0</c:v>
                </c:pt>
                <c:pt idx="1">
                  <c:v>26.0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Masterclass purchases</c:v>
                </c:pt>
              </c:strCache>
            </c:strRef>
          </c:tx>
          <c:spPr>
            <a:solidFill>
              <a:srgbClr val="9CC9FF"/>
            </a:solidFill>
          </c:spPr>
          <c:cat>
            <c:strRef>
              <c:f>Sheet1!$A$2:$A$3</c:f>
              <c:strCache>
                <c:ptCount val="2"/>
                <c:pt idx="0">
                  <c:v>Women</c:v>
                </c:pt>
                <c:pt idx="1">
                  <c:v>Men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70.0</c:v>
                </c:pt>
                <c:pt idx="1">
                  <c:v>29.0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800" b="1">
                  <a:solidFill>
                    <a:srgbClr val="0F2445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0F2445"/>
                </a:solidFill>
                <a:latin typeface="Poppin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95.0"/>
          <c:min val="0.0"/>
        </c:scaling>
        <c:delete/>
        <c:axPos val="l"/>
        <c:majorTickMark val="out"/>
        <c:minorTickMark val="none"/>
        <c:tickLblPos val="nextTo"/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Blueprint leads</c:v>
                </c:pt>
              </c:strCache>
            </c:strRef>
          </c:tx>
          <c:spPr>
            <a:solidFill>
              <a:srgbClr val="006EFF"/>
            </a:solidFill>
          </c:spPr>
          <c:cat>
            <c:strRef>
              <c:f>Sheet1!$A$2:$A$5</c:f>
              <c:strCache>
                <c:ptCount val="4"/>
                <c:pt idx="0">
                  <c:v>Texas</c:v>
                </c:pt>
                <c:pt idx="1">
                  <c:v>California</c:v>
                </c:pt>
                <c:pt idx="2">
                  <c:v>Florida</c:v>
                </c:pt>
                <c:pt idx="3">
                  <c:v>New York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26.0</c:v>
                </c:pt>
                <c:pt idx="1">
                  <c:v>10.0</c:v>
                </c:pt>
                <c:pt idx="2">
                  <c:v>9.0</c:v>
                </c:pt>
                <c:pt idx="3">
                  <c:v>7.0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Masterclass clicks</c:v>
                </c:pt>
              </c:strCache>
            </c:strRef>
          </c:tx>
          <c:spPr>
            <a:solidFill>
              <a:srgbClr val="9CC9FF"/>
            </a:solidFill>
          </c:spPr>
          <c:cat>
            <c:strRef>
              <c:f>Sheet1!$A$2:$A$5</c:f>
              <c:strCache>
                <c:ptCount val="4"/>
                <c:pt idx="0">
                  <c:v>Texas</c:v>
                </c:pt>
                <c:pt idx="1">
                  <c:v>California</c:v>
                </c:pt>
                <c:pt idx="2">
                  <c:v>Florida</c:v>
                </c:pt>
                <c:pt idx="3">
                  <c:v>New York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7.0</c:v>
                </c:pt>
                <c:pt idx="1">
                  <c:v>17.0</c:v>
                </c:pt>
                <c:pt idx="2">
                  <c:v>9.0</c:v>
                </c:pt>
                <c:pt idx="3">
                  <c:v>5.0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800" b="1">
                  <a:solidFill>
                    <a:srgbClr val="0F2445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0F2445"/>
                </a:solidFill>
                <a:latin typeface="Poppin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34.71561530506722"/>
          <c:min val="0.0"/>
        </c:scaling>
        <c:delete/>
        <c:axPos val="l"/>
        <c:majorTickMark val="out"/>
        <c:minorTickMark val="none"/>
        <c:tickLblPos val="nextTo"/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Blueprint leads</c:v>
                </c:pt>
              </c:strCache>
            </c:strRef>
          </c:tx>
          <c:spPr>
            <a:solidFill>
              <a:srgbClr val="006EFF"/>
            </a:solidFill>
          </c:spPr>
          <c:cat>
            <c:strRef>
              <c:f>Sheet1!$A$2:$A$4</c:f>
              <c:strCache>
                <c:ptCount val="3"/>
                <c:pt idx="0">
                  <c:v>iPhone</c:v>
                </c:pt>
                <c:pt idx="1">
                  <c:v>Android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75.0</c:v>
                </c:pt>
                <c:pt idx="1">
                  <c:v>24.0</c:v>
                </c:pt>
                <c:pt idx="2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Masterclass purchases</c:v>
                </c:pt>
              </c:strCache>
            </c:strRef>
          </c:tx>
          <c:spPr>
            <a:solidFill>
              <a:srgbClr val="9CC9FF"/>
            </a:solidFill>
          </c:spPr>
          <c:cat>
            <c:strRef>
              <c:f>Sheet1!$A$2:$A$4</c:f>
              <c:strCache>
                <c:ptCount val="3"/>
                <c:pt idx="0">
                  <c:v>iPhone</c:v>
                </c:pt>
                <c:pt idx="1">
                  <c:v>Android</c:v>
                </c:pt>
                <c:pt idx="2">
                  <c:v>Other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91.0</c:v>
                </c:pt>
                <c:pt idx="1">
                  <c:v>8.0</c:v>
                </c:pt>
                <c:pt idx="2">
                  <c:v>1.0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800" b="1">
                  <a:solidFill>
                    <a:srgbClr val="0F2445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0F2445"/>
                </a:solidFill>
                <a:latin typeface="Poppin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Executive summary · LLA audience · Meta Ads, May to 22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Our demand: US adults 55+, mostly women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What the data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900" b="1">
                <a:solidFill>
                  <a:srgbClr val="0F2445"/>
                </a:solidFill>
                <a:latin typeface="Poppins"/>
              </a:rPr>
              <a:t>Blueprint, core course: </a:t>
            </a:r>
            <a:r>
              <a:rPr sz="1900" b="0">
                <a:solidFill>
                  <a:srgbClr val="0F2445"/>
                </a:solidFill>
                <a:latin typeface="Poppins"/>
              </a:rPr>
              <a:t>5,979 leads at $20. 4 online purchases; the rest close through sales.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0F2445"/>
                </a:solidFill>
                <a:latin typeface="Poppins"/>
              </a:rPr>
              <a:t>Masterclass, entry product: </a:t>
            </a:r>
            <a:r>
              <a:rPr sz="1900" b="0">
                <a:solidFill>
                  <a:srgbClr val="0F2445"/>
                </a:solidFill>
                <a:latin typeface="Poppins"/>
              </a:rPr>
              <a:t>141 purchases at $382, since 24 Sep.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0F2445"/>
                </a:solidFill>
                <a:latin typeface="Poppins"/>
              </a:rPr>
              <a:t>Age: </a:t>
            </a:r>
            <a:r>
              <a:rPr sz="1900" b="0">
                <a:solidFill>
                  <a:srgbClr val="0F2445"/>
                </a:solidFill>
                <a:latin typeface="Poppins"/>
              </a:rPr>
              <a:t>55+ is 69% of Blueprint leads and 84% of Masterclass purchases.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0F2445"/>
                </a:solidFill>
                <a:latin typeface="Poppins"/>
              </a:rPr>
              <a:t>Paying skews older: </a:t>
            </a:r>
            <a:r>
              <a:rPr sz="1900" b="0">
                <a:solidFill>
                  <a:srgbClr val="0F2445"/>
                </a:solidFill>
                <a:latin typeface="Poppins"/>
              </a:rPr>
              <a:t>65+ is 21% of leads, 46% of purchases.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0F2445"/>
                </a:solidFill>
                <a:latin typeface="Poppins"/>
              </a:rPr>
              <a:t>Gender and device: </a:t>
            </a:r>
            <a:r>
              <a:rPr sz="1900" b="0">
                <a:solidFill>
                  <a:srgbClr val="0F2445"/>
                </a:solidFill>
                <a:latin typeface="Poppins"/>
              </a:rPr>
              <a:t>73% and 70% women. iPhone: 75% of leads, 91% of purchases.</a:t>
            </a:r>
          </a:p>
          <a:p>
            <a:pPr>
              <a:spcAft>
                <a:spcPts val="900"/>
              </a:spcAft>
            </a:pPr>
            <a:r>
              <a:rPr sz="1900" b="1">
                <a:solidFill>
                  <a:srgbClr val="0F2445"/>
                </a:solidFill>
                <a:latin typeface="Poppins"/>
              </a:rPr>
              <a:t>Geography: </a:t>
            </a:r>
            <a:r>
              <a:rPr sz="1900" b="0">
                <a:solidFill>
                  <a:srgbClr val="0F2445"/>
                </a:solidFill>
                <a:latin typeface="Poppins"/>
              </a:rPr>
              <a:t>Texas, California and Florida give 44% of leads. Texas costs least, $19 a lead.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37960" y="1645920"/>
            <a:ext cx="18288" cy="4617720"/>
          </a:xfrm>
          <a:prstGeom prst="rect">
            <a:avLst/>
          </a:prstGeom>
          <a:solidFill>
            <a:srgbClr val="D5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12280" y="160020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Three audience profiles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1031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F2445"/>
                </a:solidFill>
                <a:latin typeface="Poppins"/>
              </a:rPr>
              <a:t>Longevity-aware, 45 to 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25146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Follows longevity voices, wants a clear protocol. 69% of leads, 51% of purchases.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4747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F2445"/>
                </a:solidFill>
                <a:latin typeface="Poppins"/>
              </a:rPr>
              <a:t>Problem-driven, 65+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8862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Often managing a health issue, looking for answers beyond standard care. 46% of purchases.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4846320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0F2445"/>
                </a:solidFill>
                <a:latin typeface="Poppins"/>
              </a:rPr>
              <a:t>Early interest, under 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52578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Clicks and signs up, rarely pays. 9% of leads, 3% of purchases.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Profiles combine Meta results with targeting; motivations to be confirmed in sales calls.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Audience breakdown · Blueprint leads vs Masterclass purchases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Both products draw older women on iPhone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90472"/>
            <a:ext cx="274320" cy="274320"/>
          </a:xfrm>
          <a:prstGeom prst="round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445"/>
                </a:solidFill>
                <a:latin typeface="Poppins"/>
              </a:rPr>
              <a:t>Blueprint leads (5,979)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490472"/>
            <a:ext cx="274320" cy="274320"/>
          </a:xfrm>
          <a:prstGeom prst="roundRect">
            <a:avLst/>
          </a:prstGeom>
          <a:solidFill>
            <a:srgbClr val="9CC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2445"/>
                </a:solidFill>
                <a:latin typeface="Poppins"/>
              </a:rPr>
              <a:t>Masterclass purchases (141)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2445"/>
                </a:solidFill>
                <a:latin typeface="Poppins"/>
              </a:rPr>
              <a:t>Age: purchases skew to 65+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2377440"/>
          <a:ext cx="534924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09360" y="196596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2445"/>
                </a:solidFill>
                <a:latin typeface="Poppins"/>
              </a:rPr>
              <a:t>Gender: about 7 in 10 are women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309360" y="2377440"/>
          <a:ext cx="534924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425196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2445"/>
                </a:solidFill>
                <a:latin typeface="Poppins"/>
              </a:rPr>
              <a:t>State: Masterclass bar shows ad clicks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548640" y="4663440"/>
          <a:ext cx="5349240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09360" y="425196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2445"/>
                </a:solidFill>
                <a:latin typeface="Poppins"/>
              </a:rPr>
              <a:t>Device: buyers are 91% iPhone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309360" y="4663440"/>
          <a:ext cx="5349240" cy="18288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