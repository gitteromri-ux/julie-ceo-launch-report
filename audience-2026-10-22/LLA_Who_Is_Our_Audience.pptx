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Women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397.0</c:v>
                </c:pt>
                <c:pt idx="1">
                  <c:v>968.0</c:v>
                </c:pt>
                <c:pt idx="2">
                  <c:v>2130.0</c:v>
                </c:pt>
                <c:pt idx="3">
                  <c:v>860.0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Men</c:v>
                </c:pt>
              </c:strCache>
            </c:strRef>
          </c:tx>
          <c:spPr>
            <a:solidFill>
              <a:srgbClr val="5EB6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148.0</c:v>
                </c:pt>
                <c:pt idx="1">
                  <c:v>305.0</c:v>
                </c:pt>
                <c:pt idx="2">
                  <c:v>716.0</c:v>
                </c:pt>
                <c:pt idx="3">
                  <c:v>408.0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0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2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8"/>
            </a:solidFill>
          </a:ln>
        </c:spPr>
        <c:txPr>
          <a:bodyPr/>
          <a:lstStyle/>
          <a:p>
            <a:pPr>
              <a:defRPr sz="2000" b="1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2513.4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legend>
      <c:legendPos val="t"/>
      <c:overlay val="0"/>
      <c:txPr>
        <a:bodyPr/>
        <a:lstStyle/>
        <a:p>
          <a:pPr>
            <a:defRPr sz="2000">
              <a:solidFill>
                <a:srgbClr val="0F2445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Women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16.0</c:v>
                </c:pt>
                <c:pt idx="2">
                  <c:v>43.0</c:v>
                </c:pt>
                <c:pt idx="3">
                  <c:v>40.0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Men</c:v>
                </c:pt>
              </c:strCache>
            </c:strRef>
          </c:tx>
          <c:spPr>
            <a:solidFill>
              <a:srgbClr val="5EB6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3.0</c:v>
                </c:pt>
                <c:pt idx="2">
                  <c:v>11.0</c:v>
                </c:pt>
                <c:pt idx="3">
                  <c:v>24.0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0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2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E8"/>
            </a:solidFill>
          </a:ln>
        </c:spPr>
        <c:txPr>
          <a:bodyPr/>
          <a:lstStyle/>
          <a:p>
            <a:pPr>
              <a:defRPr sz="2000" b="1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50.739999999999995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legend>
      <c:legendPos val="t"/>
      <c:overlay val="0"/>
      <c:txPr>
        <a:bodyPr/>
        <a:lstStyle/>
        <a:p>
          <a:pPr>
            <a:defRPr sz="2000">
              <a:solidFill>
                <a:srgbClr val="0F2445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Longevity Blueprint · 18-week course, 5 × $179 · Meta Ads, May to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Blueprint: 5,979 leads at $20 each. 73% women, 69% aged 55+.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6309360" cy="42976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445"/>
                </a:solidFill>
                <a:latin typeface="Poppins"/>
              </a:rPr>
              <a:t>Blueprint leads by age and gender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2606040"/>
          <a:ext cx="603504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95160" y="2011680"/>
            <a:ext cx="4663440" cy="128016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51192" y="21579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Who we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51192" y="2578608"/>
            <a:ext cx="4251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US, ages 35 to 64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12 interests, top-income ZIPs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3410712"/>
            <a:ext cx="4663440" cy="128016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1192" y="355701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Who converts most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51192" y="3977639"/>
            <a:ext cx="4251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Women 55 to 64: 2,130 leads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Lowest cost: men 65+, $18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4809744"/>
            <a:ext cx="4663440" cy="1499616"/>
          </a:xfrm>
          <a:prstGeom prst="roundRect">
            <a:avLst>
              <a:gd name="adj" fmla="val 6000"/>
            </a:avLst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495604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Direct online purchases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5376672"/>
            <a:ext cx="4251959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3 purchases from $28,254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Leads are closed by sales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Source: Meta Ads. 3 lead campaigns, $119,273 spend. 2 direct-sales campaigns, $28,254 spend.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Julie Masterclass · $49 Standard, $79 VIP · Meta Ads, 24 Sep to 22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Masterclass: 142 buyers from $53,764. 70% women, 84% aged 55+.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6309360" cy="42976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2445"/>
                </a:solidFill>
                <a:latin typeface="Poppins"/>
              </a:rPr>
              <a:t>Masterclass buyers by age and gender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2606040"/>
          <a:ext cx="603504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95160" y="2011680"/>
            <a:ext cx="4663440" cy="1828800"/>
          </a:xfrm>
          <a:prstGeom prst="roundRect">
            <a:avLst>
              <a:gd name="adj" fmla="val 6000"/>
            </a:avLst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51192" y="21579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E7A4B"/>
                </a:solidFill>
                <a:latin typeface="Poppins"/>
              </a:rPr>
              <a:t>Lowest cost per buyer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51192" y="2578608"/>
            <a:ext cx="42519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Men 65+: 24 at $320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Women 55 to 64: 43 at $338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Women 65+: 40 at $419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3959352"/>
            <a:ext cx="4663440" cy="128016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1192" y="41056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Who we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51192" y="4526280"/>
            <a:ext cx="4251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US, ages 35 to 65+, 41 interests</a:t>
            </a:r>
          </a:p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plus lookalikes of our buyers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5358384"/>
            <a:ext cx="4663440" cy="950976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550468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6EFF"/>
                </a:solidFill>
                <a:latin typeface="Poppins"/>
              </a:rPr>
              <a:t>Versus Blueprint leads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5925312"/>
            <a:ext cx="4251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F2445"/>
                </a:solidFill>
                <a:latin typeface="Poppins"/>
              </a:rPr>
              <a:t>Aged 65+: 46% vs 21%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Source: Meta Ads, Meta-attributed purchases. Average $379 per buyer.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Julie Masterclass · US only, ages 35 to 65+, top 10% income ZIP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Masterclass targeting: 41 Meta interests in 6 clusters, plus buyer lookalikes.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Master class, Udemy, Distance education, Continuing education, Web conferencing, TED (conference), Audiobook, Audible.com, Non-fiction books, Self-help, Personal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4  </a:t>
            </a:r>
            <a:r>
              <a:rPr sz="2200" b="1">
                <a:solidFill>
                  <a:srgbClr val="0F2445"/>
                </a:solidFill>
                <a:latin typeface="Poppins"/>
              </a:rPr>
              <a:t>Wearables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Apple Watch, Fitbit, Wearable technology, MyFitnessPal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965960"/>
            <a:ext cx="3611880" cy="29260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11  </a:t>
            </a:r>
            <a:r>
              <a:rPr sz="2200" b="1">
                <a:solidFill>
                  <a:srgbClr val="0F2445"/>
                </a:solidFill>
                <a:latin typeface="Poppins"/>
              </a:rPr>
              <a:t>Nutrition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51176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Human nutrition, Healthy diet, Paleolithic diet, Ketone, Vitamins and nutritional supplements, Magnesium, Creatine, Collagen, Omega, Turmeric, Probiotic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1572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3  </a:t>
            </a:r>
            <a:r>
              <a:rPr sz="2200" b="1">
                <a:solidFill>
                  <a:srgbClr val="0F2445"/>
                </a:solidFill>
                <a:latin typeface="Poppins"/>
              </a:rPr>
              <a:t>Voices and buyers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1441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Oprah Winfrey, Prevention (magazine), PayPal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965960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9397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Fitness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51176"/>
            <a:ext cx="32004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Physical fitness, Strength training, High-intensity interval training, Pilates, Walking, Sauna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3434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471416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6  </a:t>
            </a:r>
            <a:r>
              <a:rPr sz="2200" b="1">
                <a:solidFill>
                  <a:srgbClr val="0F2445"/>
                </a:solidFill>
                <a:latin typeface="Poppins"/>
              </a:rPr>
              <a:t>Longevity and 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928616"/>
            <a:ext cx="320040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Life extension, Genetics, Metabolism, Well-being, Healthy Habits, Meditations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