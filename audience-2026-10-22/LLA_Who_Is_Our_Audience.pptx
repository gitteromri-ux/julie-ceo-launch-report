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generation · leads</c:v>
                </c:pt>
              </c:strCache>
            </c:strRef>
          </c:tx>
          <c:spPr>
            <a:solidFill>
              <a:srgbClr val="5EB6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21.4</c:v>
                </c:pt>
                <c:pt idx="2">
                  <c:v>47.9</c:v>
                </c:pt>
                <c:pt idx="3">
                  <c:v>21.4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Masterclass · buyers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13.4</c:v>
                </c:pt>
                <c:pt idx="2">
                  <c:v>38.0</c:v>
                </c:pt>
                <c:pt idx="3">
                  <c:v>45.8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0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8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8"/>
            </a:solidFill>
          </a:ln>
        </c:spPr>
        <c:txPr>
          <a:bodyPr/>
          <a:lstStyle/>
          <a:p>
            <a:pPr>
              <a:defRPr sz="2000" b="1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58.0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800">
              <a:solidFill>
                <a:srgbClr val="0F2445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Longevity Life Academy · Who is our audience ·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Our audience is a woman over 55 on Facebook. Paying buyers are older still.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5943600" cy="42062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Share of results by 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606040"/>
          <a:ext cx="56692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2011680"/>
            <a:ext cx="4983480" cy="20574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1762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Lead generation · May to Oct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146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2445"/>
                </a:solidFill>
                <a:latin typeface="Poppins"/>
              </a:rPr>
              <a:t>5,979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10896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73% women · 69% aged 55+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92% Facebook · 75% iPhone</a:t>
            </a:r>
          </a:p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Women 55 to 64: 36% of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160520"/>
            <a:ext cx="4983480" cy="2057400"/>
          </a:xfrm>
          <a:prstGeom prst="roundRect">
            <a:avLst>
              <a:gd name="adj" fmla="val 6000"/>
            </a:avLst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32511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7A4B"/>
                </a:solidFill>
                <a:latin typeface="Poppins"/>
              </a:rPr>
              <a:t>Masterclass · Sep to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66344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2445"/>
                </a:solidFill>
                <a:latin typeface="Poppins"/>
              </a:rPr>
              <a:t>142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70% women · 84% aged 55+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99% Facebook · 92% iPhone</a:t>
            </a:r>
          </a:p>
          <a:p>
            <a:pPr algn="l"/>
            <a:r>
              <a:rPr sz="2000" b="1">
                <a:solidFill>
                  <a:srgbClr val="0E7A4B"/>
                </a:solidFill>
                <a:latin typeface="Poppins"/>
              </a:rPr>
              <a:t>Cheapest buyer: men 65+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Source: Meta Ads, 11 May to 22 Oct 2026. Buyers are Meta-attributed purchases.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Who we target · 2 / 2 · Masterclass · US only, ages 35 to 65+, top 10% income ZIPs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41 interests in 6 clusters, plus lookalikes of our own paid buyers.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9397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11  </a:t>
            </a:r>
            <a:r>
              <a:rPr sz="2200" b="1">
                <a:solidFill>
                  <a:srgbClr val="0F2445"/>
                </a:solidFill>
                <a:latin typeface="Poppins"/>
              </a:rPr>
              <a:t>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51176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Master class, Udemy, Distance education, Continuing education, Web conferencing, TED (conference), Audiobook, Audible.com, Non-fiction books, Self-help, Personal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5721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4  </a:t>
            </a:r>
            <a:r>
              <a:rPr sz="2200" b="1">
                <a:solidFill>
                  <a:srgbClr val="0F2445"/>
                </a:solidFill>
                <a:latin typeface="Poppins"/>
              </a:rPr>
              <a:t>Wearables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14416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Apple Watch, Fitbit, Wearable technology, MyFitnessPal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9397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11  </a:t>
            </a:r>
            <a:r>
              <a:rPr sz="2200" b="1">
                <a:solidFill>
                  <a:srgbClr val="0F2445"/>
                </a:solidFill>
                <a:latin typeface="Poppins"/>
              </a:rPr>
              <a:t>Nutrition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51176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Human nutrition, Healthy diet, Paleolithic diet, Ketone, Vitamins and nutritional supplements, Magnesium, Creatine, Collagen, Omega, Turmeric, Probiotic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02920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15721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3  </a:t>
            </a:r>
            <a:r>
              <a:rPr sz="2200" b="1">
                <a:solidFill>
                  <a:srgbClr val="0F2445"/>
                </a:solidFill>
                <a:latin typeface="Poppins"/>
              </a:rPr>
              <a:t>Voices and buyers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614416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Oprah Winfrey, Prevention (magazine), PayPal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9397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6  </a:t>
            </a:r>
            <a:r>
              <a:rPr sz="2200" b="1">
                <a:solidFill>
                  <a:srgbClr val="0F2445"/>
                </a:solidFill>
                <a:latin typeface="Poppins"/>
              </a:rPr>
              <a:t>Fitness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2004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Physical fitness, Strength training, High-intensity interval training, Pilates, Walking, Sauna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3434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471416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6  </a:t>
            </a:r>
            <a:r>
              <a:rPr sz="2200" b="1">
                <a:solidFill>
                  <a:srgbClr val="0F2445"/>
                </a:solidFill>
                <a:latin typeface="Poppins"/>
              </a:rPr>
              <a:t>Longevity and 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928616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Life extension, Genetics, Metabolism, Well-being, Healthy Habits, Meditations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