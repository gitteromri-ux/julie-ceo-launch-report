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Women</c:v>
                </c:pt>
              </c:strCache>
            </c:strRef>
          </c:tx>
          <c:spPr>
            <a:solidFill>
              <a:srgbClr val="006EFF"/>
            </a:solidFill>
          </c:spPr>
          <c:cat>
            <c:strRef>
              <c:f>Sheet1!$A$2:$A$5</c:f>
              <c:strCache>
                <c:ptCount val="4"/>
                <c:pt idx="0">
                  <c:v>Under 45</c:v>
                </c:pt>
                <c:pt idx="1">
                  <c:v>45 to 54</c:v>
                </c:pt>
                <c:pt idx="2">
                  <c:v>55 to 64</c:v>
                </c:pt>
                <c:pt idx="3">
                  <c:v>65+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397.0</c:v>
                </c:pt>
                <c:pt idx="1">
                  <c:v>968.0</c:v>
                </c:pt>
                <c:pt idx="2">
                  <c:v>2130.0</c:v>
                </c:pt>
                <c:pt idx="3">
                  <c:v>860.0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Men</c:v>
                </c:pt>
              </c:strCache>
            </c:strRef>
          </c:tx>
          <c:spPr>
            <a:solidFill>
              <a:srgbClr val="5EB6FF"/>
            </a:solidFill>
          </c:spPr>
          <c:cat>
            <c:strRef>
              <c:f>Sheet1!$A$2:$A$5</c:f>
              <c:strCache>
                <c:ptCount val="4"/>
                <c:pt idx="0">
                  <c:v>Under 45</c:v>
                </c:pt>
                <c:pt idx="1">
                  <c:v>45 to 54</c:v>
                </c:pt>
                <c:pt idx="2">
                  <c:v>55 to 64</c:v>
                </c:pt>
                <c:pt idx="3">
                  <c:v>65+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148.0</c:v>
                </c:pt>
                <c:pt idx="1">
                  <c:v>305.0</c:v>
                </c:pt>
                <c:pt idx="2">
                  <c:v>716.0</c:v>
                </c:pt>
                <c:pt idx="3">
                  <c:v>408.0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2000" b="1">
                  <a:solidFill>
                    <a:srgbClr val="0F2445"/>
                  </a:solidFill>
                  <a:latin typeface="Poppi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2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8"/>
            </a:solidFill>
          </a:ln>
        </c:spPr>
        <c:txPr>
          <a:bodyPr/>
          <a:lstStyle/>
          <a:p>
            <a:pPr>
              <a:defRPr sz="2000" b="1">
                <a:solidFill>
                  <a:srgbClr val="0F2445"/>
                </a:solidFill>
                <a:latin typeface="Poppins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max val="2513.4"/>
          <c:min val="0.0"/>
        </c:scaling>
        <c:delete/>
        <c:axPos val="l"/>
        <c:majorTickMark val="out"/>
        <c:minorTickMark val="none"/>
        <c:tickLblPos val="nextTo"/>
        <c:crossAx val="2068027336"/>
        <c:crosses val="autoZero"/>
      </c:valAx>
    </c:plotArea>
    <c:legend>
      <c:legendPos val="t"/>
      <c:overlay val="0"/>
      <c:txPr>
        <a:bodyPr/>
        <a:lstStyle/>
        <a:p>
          <a:pPr>
            <a:defRPr sz="2000">
              <a:solidFill>
                <a:srgbClr val="0F2445"/>
              </a:solidFill>
              <a:latin typeface="Poppins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Women</c:v>
                </c:pt>
              </c:strCache>
            </c:strRef>
          </c:tx>
          <c:spPr>
            <a:solidFill>
              <a:srgbClr val="006EFF"/>
            </a:solidFill>
          </c:spPr>
          <c:cat>
            <c:strRef>
              <c:f>Sheet1!$A$2:$A$5</c:f>
              <c:strCache>
                <c:ptCount val="4"/>
                <c:pt idx="0">
                  <c:v>Under 45</c:v>
                </c:pt>
                <c:pt idx="1">
                  <c:v>45 to 54</c:v>
                </c:pt>
                <c:pt idx="2">
                  <c:v>55 to 64</c:v>
                </c:pt>
                <c:pt idx="3">
                  <c:v>65+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1.0</c:v>
                </c:pt>
                <c:pt idx="1">
                  <c:v>16.0</c:v>
                </c:pt>
                <c:pt idx="2">
                  <c:v>42.0</c:v>
                </c:pt>
                <c:pt idx="3">
                  <c:v>40.0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Men</c:v>
                </c:pt>
              </c:strCache>
            </c:strRef>
          </c:tx>
          <c:spPr>
            <a:solidFill>
              <a:srgbClr val="5EB6FF"/>
            </a:solidFill>
          </c:spPr>
          <c:cat>
            <c:strRef>
              <c:f>Sheet1!$A$2:$A$5</c:f>
              <c:strCache>
                <c:ptCount val="4"/>
                <c:pt idx="0">
                  <c:v>Under 45</c:v>
                </c:pt>
                <c:pt idx="1">
                  <c:v>45 to 54</c:v>
                </c:pt>
                <c:pt idx="2">
                  <c:v>55 to 64</c:v>
                </c:pt>
                <c:pt idx="3">
                  <c:v>65+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3.0</c:v>
                </c:pt>
                <c:pt idx="1">
                  <c:v>3.0</c:v>
                </c:pt>
                <c:pt idx="2">
                  <c:v>11.0</c:v>
                </c:pt>
                <c:pt idx="3">
                  <c:v>24.0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2000" b="1">
                  <a:solidFill>
                    <a:srgbClr val="0F2445"/>
                  </a:solidFill>
                  <a:latin typeface="Poppi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2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8"/>
            </a:solidFill>
          </a:ln>
        </c:spPr>
        <c:txPr>
          <a:bodyPr/>
          <a:lstStyle/>
          <a:p>
            <a:pPr>
              <a:defRPr sz="2000" b="1">
                <a:solidFill>
                  <a:srgbClr val="0F2445"/>
                </a:solidFill>
                <a:latin typeface="Poppins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max val="49.559999999999995"/>
          <c:min val="0.0"/>
        </c:scaling>
        <c:delete/>
        <c:axPos val="l"/>
        <c:majorTickMark val="out"/>
        <c:minorTickMark val="none"/>
        <c:tickLblPos val="nextTo"/>
        <c:crossAx val="2068027336"/>
        <c:crosses val="autoZero"/>
      </c:valAx>
    </c:plotArea>
    <c:legend>
      <c:legendPos val="t"/>
      <c:overlay val="0"/>
      <c:txPr>
        <a:bodyPr/>
        <a:lstStyle/>
        <a:p>
          <a:pPr>
            <a:defRPr sz="2000">
              <a:solidFill>
                <a:srgbClr val="0F2445"/>
              </a:solidFill>
              <a:latin typeface="Poppins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06EFF"/>
                </a:solidFill>
                <a:latin typeface="Poppins"/>
              </a:rPr>
              <a:t>Who buys from us · Meta Ads data to 22 Oct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155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2445"/>
                </a:solidFill>
                <a:latin typeface="Poppins"/>
              </a:rPr>
              <a:t>Four personas. Blueprint is the core course, Masterclass is the entry point.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25717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F2445"/>
                </a:solidFill>
                <a:latin typeface="Poppins"/>
              </a:rPr>
              <a:t>The Preventer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87168"/>
            <a:ext cx="257175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06EFF"/>
                </a:solidFill>
                <a:latin typeface="Poppins"/>
              </a:rPr>
              <a:t>Women 55 to 64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08960"/>
            <a:ext cx="25717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0F2445"/>
                </a:solidFill>
                <a:latin typeface="Poppins"/>
              </a:rPr>
              <a:t>36%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22191"/>
            <a:ext cx="25717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4A5A72"/>
                </a:solidFill>
                <a:latin typeface="Poppins"/>
              </a:rPr>
              <a:t>of Blueprint leads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43400"/>
            <a:ext cx="25717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0E7A4B"/>
                </a:solidFill>
                <a:latin typeface="Poppins"/>
              </a:rPr>
              <a:t>30%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056632"/>
            <a:ext cx="25717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4A5A72"/>
                </a:solidFill>
                <a:latin typeface="Poppins"/>
              </a:rPr>
              <a:t>of Masterclass buyers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760720"/>
            <a:ext cx="257175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0F2445"/>
                </a:solidFill>
                <a:latin typeface="Poppins"/>
              </a:rPr>
              <a:t>Stay healthy and look well as she ages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57550" y="2011680"/>
            <a:ext cx="18288" cy="4206240"/>
          </a:xfrm>
          <a:prstGeom prst="rect">
            <a:avLst/>
          </a:prstGeom>
          <a:solidFill>
            <a:srgbClr val="D5D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94710" y="2011680"/>
            <a:ext cx="25717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F2445"/>
                </a:solidFill>
                <a:latin typeface="Poppins"/>
              </a:rPr>
              <a:t>The Learner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4710" y="2487168"/>
            <a:ext cx="257175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06EFF"/>
                </a:solidFill>
                <a:latin typeface="Poppins"/>
              </a:rPr>
              <a:t>Women 65+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4710" y="3108960"/>
            <a:ext cx="25717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0F2445"/>
                </a:solidFill>
                <a:latin typeface="Poppins"/>
              </a:rPr>
              <a:t>14%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94710" y="3822191"/>
            <a:ext cx="25717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4A5A72"/>
                </a:solidFill>
                <a:latin typeface="Poppins"/>
              </a:rPr>
              <a:t>of Blueprint leads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94710" y="4343400"/>
            <a:ext cx="25717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0E7A4B"/>
                </a:solidFill>
                <a:latin typeface="Poppins"/>
              </a:rPr>
              <a:t>28%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94710" y="5056632"/>
            <a:ext cx="25717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4A5A72"/>
                </a:solidFill>
                <a:latin typeface="Poppins"/>
              </a:rPr>
              <a:t>of Masterclass buyers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94710" y="5760720"/>
            <a:ext cx="257175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0F2445"/>
                </a:solidFill>
                <a:latin typeface="Poppins"/>
              </a:rPr>
              <a:t>A guided, live class from an expert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03619" y="2011680"/>
            <a:ext cx="18288" cy="4206240"/>
          </a:xfrm>
          <a:prstGeom prst="rect">
            <a:avLst/>
          </a:prstGeom>
          <a:solidFill>
            <a:srgbClr val="D5D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40779" y="2011680"/>
            <a:ext cx="25717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F2445"/>
                </a:solidFill>
                <a:latin typeface="Poppins"/>
              </a:rPr>
              <a:t>The Optimizer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40779" y="2487168"/>
            <a:ext cx="257175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06EFF"/>
                </a:solidFill>
                <a:latin typeface="Poppins"/>
              </a:rPr>
              <a:t>Men 55+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0779" y="3108960"/>
            <a:ext cx="25717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0F2445"/>
                </a:solidFill>
                <a:latin typeface="Poppins"/>
              </a:rPr>
              <a:t>19%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40779" y="3822191"/>
            <a:ext cx="25717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4A5A72"/>
                </a:solidFill>
                <a:latin typeface="Poppins"/>
              </a:rPr>
              <a:t>of Blueprint leads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40779" y="4343400"/>
            <a:ext cx="25717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0E7A4B"/>
                </a:solidFill>
                <a:latin typeface="Poppins"/>
              </a:rPr>
              <a:t>25%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40779" y="5056632"/>
            <a:ext cx="25717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4A5A72"/>
                </a:solidFill>
                <a:latin typeface="Poppins"/>
              </a:rPr>
              <a:t>of Masterclass buyers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0779" y="5760720"/>
            <a:ext cx="257175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0F2445"/>
                </a:solidFill>
                <a:latin typeface="Poppins"/>
              </a:rPr>
              <a:t>Data, strength and measurable results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49689" y="2011680"/>
            <a:ext cx="18288" cy="4206240"/>
          </a:xfrm>
          <a:prstGeom prst="rect">
            <a:avLst/>
          </a:prstGeom>
          <a:solidFill>
            <a:srgbClr val="D5D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86849" y="2011680"/>
            <a:ext cx="25717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F2445"/>
                </a:solidFill>
                <a:latin typeface="Poppins"/>
              </a:rPr>
              <a:t>The Biohacker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86849" y="2487168"/>
            <a:ext cx="257175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06EFF"/>
                </a:solidFill>
                <a:latin typeface="Poppins"/>
              </a:rPr>
              <a:t>Ages 45 to 54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86849" y="3108960"/>
            <a:ext cx="25717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0F2445"/>
                </a:solidFill>
                <a:latin typeface="Poppins"/>
              </a:rPr>
              <a:t>21%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86849" y="3822191"/>
            <a:ext cx="25717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4A5A72"/>
                </a:solidFill>
                <a:latin typeface="Poppins"/>
              </a:rPr>
              <a:t>of Blueprint leads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86849" y="4343400"/>
            <a:ext cx="25717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0E7A4B"/>
                </a:solidFill>
                <a:latin typeface="Poppins"/>
              </a:rPr>
              <a:t>13%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86849" y="5056632"/>
            <a:ext cx="25717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4A5A72"/>
                </a:solidFill>
                <a:latin typeface="Poppins"/>
              </a:rPr>
              <a:t>of Masterclass buyers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86849" y="5760720"/>
            <a:ext cx="257175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0F2445"/>
                </a:solidFill>
                <a:latin typeface="Poppins"/>
              </a:rPr>
              <a:t>An edge and a clear daily protocol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06EFF"/>
                </a:solidFill>
                <a:latin typeface="Poppins"/>
              </a:rPr>
              <a:t>Longevity Blueprint · core course, 18 weeks, 5 × $179 · May to 22 Oct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155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2445"/>
                </a:solidFill>
                <a:latin typeface="Poppins"/>
              </a:rPr>
              <a:t>Blueprint: 5,979 leads at $20 each. Women 55 to 64 are the largest group.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6766560" cy="4343400"/>
          </a:xfrm>
          <a:prstGeom prst="roundRect">
            <a:avLst>
              <a:gd name="adj" fmla="val 6000"/>
            </a:avLst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148840"/>
            <a:ext cx="6217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F2445"/>
                </a:solidFill>
                <a:latin typeface="Poppins"/>
              </a:rPr>
              <a:t>Blueprint leads by age and gender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85800" y="2606040"/>
          <a:ext cx="649224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543800" y="2011680"/>
            <a:ext cx="18288" cy="4343400"/>
          </a:xfrm>
          <a:prstGeom prst="rect">
            <a:avLst/>
          </a:prstGeom>
          <a:solidFill>
            <a:srgbClr val="D5D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2011680"/>
            <a:ext cx="3931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0F2445"/>
                </a:solidFill>
                <a:latin typeface="Poppins"/>
              </a:rPr>
              <a:t>73%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724912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4A5A72"/>
                </a:solidFill>
                <a:latin typeface="Poppins"/>
              </a:rPr>
              <a:t>of leads are women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429000"/>
            <a:ext cx="3931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0F2445"/>
                </a:solidFill>
                <a:latin typeface="Poppins"/>
              </a:rPr>
              <a:t>69%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4142232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4A5A72"/>
                </a:solidFill>
                <a:latin typeface="Poppins"/>
              </a:rPr>
              <a:t>of leads are 55 or older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4846320"/>
            <a:ext cx="3931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0E7A4B"/>
                </a:solidFill>
                <a:latin typeface="Poppins"/>
              </a:rPr>
              <a:t>4 online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5559552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4A5A72"/>
                </a:solidFill>
                <a:latin typeface="Poppins"/>
              </a:rPr>
              <a:t>buyers, all aged 45 to 64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4A5A72"/>
                </a:solidFill>
                <a:latin typeface="Poppins"/>
              </a:rPr>
              <a:t>Most Blueprint sales close through the sales team and are recorded in the eTeacher CRM.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06EFF"/>
                </a:solidFill>
                <a:latin typeface="Poppins"/>
              </a:rPr>
              <a:t>Julie Masterclass · entry product, $49 or $79 · 24 Sep to 22 Oct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155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2445"/>
                </a:solidFill>
                <a:latin typeface="Poppins"/>
              </a:rPr>
              <a:t>Masterclass: 141 buyers at $382 each. 46% are 65+, vs 21% of Blueprint leads.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6766560" cy="4343400"/>
          </a:xfrm>
          <a:prstGeom prst="roundRect">
            <a:avLst>
              <a:gd name="adj" fmla="val 6000"/>
            </a:avLst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148840"/>
            <a:ext cx="6217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F2445"/>
                </a:solidFill>
                <a:latin typeface="Poppins"/>
              </a:rPr>
              <a:t>Masterclass buyers by age and gender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85800" y="2606040"/>
          <a:ext cx="649224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543800" y="2011680"/>
            <a:ext cx="18288" cy="4343400"/>
          </a:xfrm>
          <a:prstGeom prst="rect">
            <a:avLst/>
          </a:prstGeom>
          <a:solidFill>
            <a:srgbClr val="D5DF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2011680"/>
            <a:ext cx="3931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0F2445"/>
                </a:solidFill>
                <a:latin typeface="Poppins"/>
              </a:rPr>
              <a:t>70%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724912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4A5A72"/>
                </a:solidFill>
                <a:latin typeface="Poppins"/>
              </a:rPr>
              <a:t>of buyers are women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429000"/>
            <a:ext cx="3931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0F2445"/>
                </a:solidFill>
                <a:latin typeface="Poppins"/>
              </a:rPr>
              <a:t>91%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4142232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4A5A72"/>
                </a:solidFill>
                <a:latin typeface="Poppins"/>
              </a:rPr>
              <a:t>of buyers bought on iPhone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4846320"/>
            <a:ext cx="3931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0E7A4B"/>
                </a:solidFill>
                <a:latin typeface="Poppins"/>
              </a:rPr>
              <a:t>$321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5559552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4A5A72"/>
                </a:solidFill>
                <a:latin typeface="Poppins"/>
              </a:rPr>
              <a:t>per buyer, men 65+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4A5A72"/>
                </a:solidFill>
                <a:latin typeface="Poppins"/>
              </a:rPr>
              <a:t>141 buyers from 205 checkout starts. Meta-tracked purchases.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06EFF"/>
                </a:solidFill>
                <a:latin typeface="Poppins"/>
              </a:rPr>
              <a:t>How we target · plus top 10 to 25% income ZIPs, Engaged Shoppers, iOS only, buyer lookalikes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155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2445"/>
                </a:solidFill>
                <a:latin typeface="Poppins"/>
              </a:rPr>
              <a:t>41 longevity interests in 7 groups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00200"/>
          <a:ext cx="1110996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737360"/>
                <a:gridCol w="6172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006EFF"/>
                          </a:solidFill>
                          <a:latin typeface="Poppins"/>
                        </a:rPr>
                        <a:t>8  </a:t>
                      </a:r>
                      <a:r>
                        <a:rPr sz="2000" b="1">
                          <a:solidFill>
                            <a:srgbClr val="0F2445"/>
                          </a:solidFill>
                          <a:latin typeface="Poppins"/>
                        </a:rPr>
                        <a:t>Nutrition and supplements</a:t>
                      </a:r>
                    </a:p>
                  </a:txBody>
                  <a:tcPr anchor="ctr" marL="128016" marR="128016" marT="36576" marB="36576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0E7A4B"/>
                          </a:solidFill>
                          <a:latin typeface="Poppins"/>
                        </a:rPr>
                        <a:t>Preventer</a:t>
                      </a:r>
                    </a:p>
                  </a:txBody>
                  <a:tcPr anchor="ctr" marL="128016" marR="128016" marT="36576" marB="36576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F2445"/>
                          </a:solidFill>
                          <a:latin typeface="Poppins"/>
                        </a:rPr>
                        <a:t>Human nutrition, Healthy diet, Vitamins and nutritional supplements, Collagen, Probiotic, Turmeric, Omega, Magnesium</a:t>
                      </a:r>
                    </a:p>
                  </a:txBody>
                  <a:tcPr anchor="ctr" marL="128016" marR="128016" marT="36576" marB="36576">
                    <a:solidFill>
                      <a:srgbClr val="EEF4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006EFF"/>
                          </a:solidFill>
                          <a:latin typeface="Poppins"/>
                        </a:rPr>
                        <a:t>7  </a:t>
                      </a:r>
                      <a:r>
                        <a:rPr sz="2000" b="1">
                          <a:solidFill>
                            <a:srgbClr val="0F2445"/>
                          </a:solidFill>
                          <a:latin typeface="Poppins"/>
                        </a:rPr>
                        <a:t>Metabolic and biohacking</a:t>
                      </a:r>
                    </a:p>
                  </a:txBody>
                  <a:tcPr anchor="ctr" marL="128016" marR="12801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0E7A4B"/>
                          </a:solidFill>
                          <a:latin typeface="Poppins"/>
                        </a:rPr>
                        <a:t>Biohacker</a:t>
                      </a:r>
                    </a:p>
                  </a:txBody>
                  <a:tcPr anchor="ctr" marL="128016" marR="12801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F2445"/>
                          </a:solidFill>
                          <a:latin typeface="Poppins"/>
                        </a:rPr>
                        <a:t>Paleolithic diet, Ketone, Creatine, Metabolism, Genetics, Life extension, Sauna</a:t>
                      </a:r>
                    </a:p>
                  </a:txBody>
                  <a:tcPr anchor="ctr" marL="128016" marR="128016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006EFF"/>
                          </a:solidFill>
                          <a:latin typeface="Poppins"/>
                        </a:rPr>
                        <a:t>9  </a:t>
                      </a:r>
                      <a:r>
                        <a:rPr sz="2000" b="1">
                          <a:solidFill>
                            <a:srgbClr val="0F2445"/>
                          </a:solidFill>
                          <a:latin typeface="Poppins"/>
                        </a:rPr>
                        <a:t>Lifelong learning</a:t>
                      </a:r>
                    </a:p>
                  </a:txBody>
                  <a:tcPr anchor="ctr" marL="128016" marR="128016" marT="36576" marB="36576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0E7A4B"/>
                          </a:solidFill>
                          <a:latin typeface="Poppins"/>
                        </a:rPr>
                        <a:t>Learner</a:t>
                      </a:r>
                    </a:p>
                  </a:txBody>
                  <a:tcPr anchor="ctr" marL="128016" marR="128016" marT="36576" marB="36576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F2445"/>
                          </a:solidFill>
                          <a:latin typeface="Poppins"/>
                        </a:rPr>
                        <a:t>Master class, Udemy, Distance education, Continuing education, Web conferencing, TED (conference), Audiobook, Audible.com, Non-fiction books</a:t>
                      </a:r>
                    </a:p>
                  </a:txBody>
                  <a:tcPr anchor="ctr" marL="128016" marR="128016" marT="36576" marB="36576">
                    <a:solidFill>
                      <a:srgbClr val="EEF4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006EFF"/>
                          </a:solidFill>
                          <a:latin typeface="Poppins"/>
                        </a:rPr>
                        <a:t>5  </a:t>
                      </a:r>
                      <a:r>
                        <a:rPr sz="2000" b="1">
                          <a:solidFill>
                            <a:srgbClr val="0F2445"/>
                          </a:solidFill>
                          <a:latin typeface="Poppins"/>
                        </a:rPr>
                        <a:t>Movement and strength</a:t>
                      </a:r>
                    </a:p>
                  </a:txBody>
                  <a:tcPr anchor="ctr" marL="128016" marR="12801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0E7A4B"/>
                          </a:solidFill>
                          <a:latin typeface="Poppins"/>
                        </a:rPr>
                        <a:t>Optimizer</a:t>
                      </a:r>
                    </a:p>
                  </a:txBody>
                  <a:tcPr anchor="ctr" marL="128016" marR="12801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F2445"/>
                          </a:solidFill>
                          <a:latin typeface="Poppins"/>
                        </a:rPr>
                        <a:t>Physical fitness, Strength training, High-intensity interval training, Pilates, Walking</a:t>
                      </a:r>
                    </a:p>
                  </a:txBody>
                  <a:tcPr anchor="ctr" marL="128016" marR="128016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006EFF"/>
                          </a:solidFill>
                          <a:latin typeface="Poppins"/>
                        </a:rPr>
                        <a:t>4  </a:t>
                      </a:r>
                      <a:r>
                        <a:rPr sz="2000" b="1">
                          <a:solidFill>
                            <a:srgbClr val="0F2445"/>
                          </a:solidFill>
                          <a:latin typeface="Poppins"/>
                        </a:rPr>
                        <a:t>Measurement</a:t>
                      </a:r>
                    </a:p>
                  </a:txBody>
                  <a:tcPr anchor="ctr" marL="128016" marR="128016" marT="36576" marB="36576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0E7A4B"/>
                          </a:solidFill>
                          <a:latin typeface="Poppins"/>
                        </a:rPr>
                        <a:t>Optimizer</a:t>
                      </a:r>
                    </a:p>
                  </a:txBody>
                  <a:tcPr anchor="ctr" marL="128016" marR="128016" marT="36576" marB="36576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F2445"/>
                          </a:solidFill>
                          <a:latin typeface="Poppins"/>
                        </a:rPr>
                        <a:t>Apple Watch, Fitbit, Wearable technology, MyFitnessPal</a:t>
                      </a:r>
                    </a:p>
                  </a:txBody>
                  <a:tcPr anchor="ctr" marL="128016" marR="128016" marT="36576" marB="36576">
                    <a:solidFill>
                      <a:srgbClr val="EEF4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006EFF"/>
                          </a:solidFill>
                          <a:latin typeface="Poppins"/>
                        </a:rPr>
                        <a:t>5  </a:t>
                      </a:r>
                      <a:r>
                        <a:rPr sz="2000" b="1">
                          <a:solidFill>
                            <a:srgbClr val="0F2445"/>
                          </a:solidFill>
                          <a:latin typeface="Poppins"/>
                        </a:rPr>
                        <a:t>Mind and habits</a:t>
                      </a:r>
                    </a:p>
                  </a:txBody>
                  <a:tcPr anchor="ctr" marL="128016" marR="12801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0E7A4B"/>
                          </a:solidFill>
                          <a:latin typeface="Poppins"/>
                        </a:rPr>
                        <a:t>Learner</a:t>
                      </a:r>
                    </a:p>
                  </a:txBody>
                  <a:tcPr anchor="ctr" marL="128016" marR="12801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F2445"/>
                          </a:solidFill>
                          <a:latin typeface="Poppins"/>
                        </a:rPr>
                        <a:t>Meditations, Well-being, Healthy Habits, Self-help, Personal development</a:t>
                      </a:r>
                    </a:p>
                  </a:txBody>
                  <a:tcPr anchor="ctr" marL="128016" marR="128016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006EFF"/>
                          </a:solidFill>
                          <a:latin typeface="Poppins"/>
                        </a:rPr>
                        <a:t>3  </a:t>
                      </a:r>
                      <a:r>
                        <a:rPr sz="2000" b="1">
                          <a:solidFill>
                            <a:srgbClr val="0F2445"/>
                          </a:solidFill>
                          <a:latin typeface="Poppins"/>
                        </a:rPr>
                        <a:t>Trusted voices</a:t>
                      </a:r>
                    </a:p>
                  </a:txBody>
                  <a:tcPr anchor="ctr" marL="128016" marR="128016" marT="36576" marB="36576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0E7A4B"/>
                          </a:solidFill>
                          <a:latin typeface="Poppins"/>
                        </a:rPr>
                        <a:t>Preventer</a:t>
                      </a:r>
                    </a:p>
                  </a:txBody>
                  <a:tcPr anchor="ctr" marL="128016" marR="128016" marT="36576" marB="36576"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0F2445"/>
                          </a:solidFill>
                          <a:latin typeface="Poppins"/>
                        </a:rPr>
                        <a:t>Oprah Winfrey, Prevention (magazine), PayPal</a:t>
                      </a:r>
                    </a:p>
                  </a:txBody>
                  <a:tcPr anchor="ctr" marL="128016" marR="128016" marT="36576" marB="36576">
                    <a:solidFill>
                      <a:srgbClr val="EEF4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