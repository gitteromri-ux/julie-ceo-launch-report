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Women</c:v>
                </c:pt>
              </c:strCache>
            </c:strRef>
          </c:tx>
          <c:spPr>
            <a:solidFill>
              <a:srgbClr val="006EFF"/>
            </a:solidFill>
          </c:spPr>
          <c:cat>
            <c:strRef>
              <c:f>Sheet1!$A$2:$A$5</c:f>
              <c:strCache>
                <c:ptCount val="4"/>
                <c:pt idx="0">
                  <c:v>Under 45</c:v>
                </c:pt>
                <c:pt idx="1">
                  <c:v>45 to 54</c:v>
                </c:pt>
                <c:pt idx="2">
                  <c:v>55 to 64</c:v>
                </c:pt>
                <c:pt idx="3">
                  <c:v>65+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397.0</c:v>
                </c:pt>
                <c:pt idx="1">
                  <c:v>968.0</c:v>
                </c:pt>
                <c:pt idx="2">
                  <c:v>2130.0</c:v>
                </c:pt>
                <c:pt idx="3">
                  <c:v>860.0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Men</c:v>
                </c:pt>
              </c:strCache>
            </c:strRef>
          </c:tx>
          <c:spPr>
            <a:solidFill>
              <a:srgbClr val="5EB6FF"/>
            </a:solidFill>
          </c:spPr>
          <c:cat>
            <c:strRef>
              <c:f>Sheet1!$A$2:$A$5</c:f>
              <c:strCache>
                <c:ptCount val="4"/>
                <c:pt idx="0">
                  <c:v>Under 45</c:v>
                </c:pt>
                <c:pt idx="1">
                  <c:v>45 to 54</c:v>
                </c:pt>
                <c:pt idx="2">
                  <c:v>55 to 64</c:v>
                </c:pt>
                <c:pt idx="3">
                  <c:v>65+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148.0</c:v>
                </c:pt>
                <c:pt idx="1">
                  <c:v>305.0</c:v>
                </c:pt>
                <c:pt idx="2">
                  <c:v>716.0</c:v>
                </c:pt>
                <c:pt idx="3">
                  <c:v>408.0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2000" b="1">
                  <a:solidFill>
                    <a:srgbClr val="0F2445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2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8"/>
            </a:solidFill>
          </a:ln>
        </c:spPr>
        <c:txPr>
          <a:bodyPr/>
          <a:lstStyle/>
          <a:p>
            <a:pPr>
              <a:defRPr sz="2000" b="1">
                <a:solidFill>
                  <a:srgbClr val="0F2445"/>
                </a:solidFill>
                <a:latin typeface="Poppins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2513.4"/>
          <c:min val="0.0"/>
        </c:scaling>
        <c:delete/>
        <c:axPos val="l"/>
        <c:majorTickMark val="out"/>
        <c:minorTickMark val="none"/>
        <c:tickLblPos val="nextTo"/>
        <c:crossAx val="2068027336"/>
        <c:crosses val="autoZero"/>
      </c:valAx>
    </c:plotArea>
    <c:legend>
      <c:legendPos val="t"/>
      <c:overlay val="0"/>
      <c:txPr>
        <a:bodyPr/>
        <a:lstStyle/>
        <a:p>
          <a:pPr>
            <a:defRPr sz="2000">
              <a:solidFill>
                <a:srgbClr val="0F2445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Checkout starts</c:v>
                </c:pt>
              </c:strCache>
            </c:strRef>
          </c:tx>
          <c:spPr>
            <a:solidFill>
              <a:srgbClr val="5EB6FF"/>
            </a:solidFill>
          </c:spPr>
          <c:cat>
            <c:strRef>
              <c:f>Sheet1!$A$2:$A$5</c:f>
              <c:strCache>
                <c:ptCount val="4"/>
                <c:pt idx="0">
                  <c:v>Under 45</c:v>
                </c:pt>
                <c:pt idx="1">
                  <c:v>45 to 54</c:v>
                </c:pt>
                <c:pt idx="2">
                  <c:v>55 to 64</c:v>
                </c:pt>
                <c:pt idx="3">
                  <c:v>65+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5.0</c:v>
                </c:pt>
                <c:pt idx="1">
                  <c:v>34.0</c:v>
                </c:pt>
                <c:pt idx="2">
                  <c:v>76.0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Buyers</c:v>
                </c:pt>
              </c:strCache>
            </c:strRef>
          </c:tx>
          <c:spPr>
            <a:solidFill>
              <a:srgbClr val="0E7A4B"/>
            </a:solidFill>
          </c:spPr>
          <c:cat>
            <c:strRef>
              <c:f>Sheet1!$A$2:$A$5</c:f>
              <c:strCache>
                <c:ptCount val="4"/>
                <c:pt idx="0">
                  <c:v>Under 45</c:v>
                </c:pt>
                <c:pt idx="1">
                  <c:v>45 to 54</c:v>
                </c:pt>
                <c:pt idx="2">
                  <c:v>55 to 64</c:v>
                </c:pt>
                <c:pt idx="3">
                  <c:v>65+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4.0</c:v>
                </c:pt>
                <c:pt idx="1">
                  <c:v>19.0</c:v>
                </c:pt>
                <c:pt idx="2">
                  <c:v>53.0</c:v>
                </c:pt>
                <c:pt idx="3">
                  <c:v>65.0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2000" b="1">
                  <a:solidFill>
                    <a:srgbClr val="0F2445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2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solidFill>
                  <a:srgbClr val="0F2445"/>
                </a:solidFill>
                <a:latin typeface="Poppins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106.19999999999999"/>
          <c:min val="0.0"/>
        </c:scaling>
        <c:delete/>
        <c:axPos val="l"/>
        <c:majorTickMark val="out"/>
        <c:minorTickMark val="none"/>
        <c:tickLblPos val="nextTo"/>
        <c:crossAx val="2068027336"/>
        <c:crosses val="autoZero"/>
      </c:valAx>
    </c:plotArea>
    <c:legend>
      <c:legendPos val="t"/>
      <c:overlay val="0"/>
      <c:txPr>
        <a:bodyPr/>
        <a:lstStyle/>
        <a:p>
          <a:pPr>
            <a:defRPr sz="2000">
              <a:solidFill>
                <a:srgbClr val="0F2445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6EFF"/>
                </a:solidFill>
                <a:latin typeface="Poppins"/>
              </a:rPr>
              <a:t>LLA buyer personas · Meta Ads, May to 22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Four personas make up 136 of 141 Masterclass buyers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72768"/>
            <a:ext cx="2674620" cy="4681728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09928"/>
            <a:ext cx="2308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2445"/>
                </a:solidFill>
                <a:latin typeface="Poppins"/>
              </a:rPr>
              <a:t>The Preventer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39696"/>
            <a:ext cx="23088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A5A72"/>
                </a:solidFill>
                <a:latin typeface="Poppins"/>
              </a:rPr>
              <a:t>Aesthetic longevity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68880"/>
            <a:ext cx="23088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6EFF"/>
                </a:solidFill>
                <a:latin typeface="Poppins"/>
              </a:rPr>
              <a:t>Women 55 to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52928"/>
            <a:ext cx="23088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42 buyers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01568"/>
            <a:ext cx="23088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30% · $347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813048"/>
            <a:ext cx="23088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Blueprint: 2,130 leads, 2 buyers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498848"/>
            <a:ext cx="23088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7A4B"/>
                </a:solidFill>
                <a:latin typeface="Poppins"/>
              </a:rPr>
              <a:t>Wants: </a:t>
            </a:r>
            <a:r>
              <a:rPr sz="1800" b="0">
                <a:solidFill>
                  <a:srgbClr val="0F2445"/>
                </a:solidFill>
                <a:latin typeface="Poppins"/>
              </a:rPr>
              <a:t>stay well, look well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184648"/>
            <a:ext cx="23088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7A4B"/>
                </a:solidFill>
                <a:latin typeface="Poppins"/>
              </a:rPr>
              <a:t>Signals: </a:t>
            </a:r>
            <a:r>
              <a:rPr sz="1800" b="0">
                <a:solidFill>
                  <a:srgbClr val="0F2445"/>
                </a:solidFill>
                <a:latin typeface="Poppins"/>
              </a:rPr>
              <a:t>supplements, Pilates, Prevention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0420" y="1572768"/>
            <a:ext cx="2674620" cy="4681728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1588" y="1709928"/>
            <a:ext cx="2308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2445"/>
                </a:solidFill>
                <a:latin typeface="Poppins"/>
              </a:rPr>
              <a:t>The Learner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1588" y="2139696"/>
            <a:ext cx="23088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A5A72"/>
                </a:solidFill>
                <a:latin typeface="Poppins"/>
              </a:rPr>
              <a:t>Lifestyle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1588" y="2468880"/>
            <a:ext cx="23088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6EFF"/>
                </a:solidFill>
                <a:latin typeface="Poppins"/>
              </a:rPr>
              <a:t>Women 65+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1588" y="2852928"/>
            <a:ext cx="23088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40 buyers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1588" y="3401568"/>
            <a:ext cx="23088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28% · $419 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1588" y="3813048"/>
            <a:ext cx="23088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Blueprint: 860 leads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1588" y="4498848"/>
            <a:ext cx="23088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7A4B"/>
                </a:solidFill>
                <a:latin typeface="Poppins"/>
              </a:rPr>
              <a:t>Wants: </a:t>
            </a:r>
            <a:r>
              <a:rPr sz="1800" b="0">
                <a:solidFill>
                  <a:srgbClr val="0F2445"/>
                </a:solidFill>
                <a:latin typeface="Poppins"/>
              </a:rPr>
              <a:t>guided, live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1588" y="5184648"/>
            <a:ext cx="23088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7A4B"/>
                </a:solidFill>
                <a:latin typeface="Poppins"/>
              </a:rPr>
              <a:t>Signals: </a:t>
            </a:r>
            <a:r>
              <a:rPr sz="1800" b="0">
                <a:solidFill>
                  <a:srgbClr val="0F2445"/>
                </a:solidFill>
                <a:latin typeface="Poppins"/>
              </a:rPr>
              <a:t>Master class, Udemy, Audible, 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572768"/>
            <a:ext cx="2674620" cy="4681728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1709928"/>
            <a:ext cx="2308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2445"/>
                </a:solidFill>
                <a:latin typeface="Poppins"/>
              </a:rPr>
              <a:t>The Optimizer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139696"/>
            <a:ext cx="23088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A5A72"/>
                </a:solidFill>
                <a:latin typeface="Poppins"/>
              </a:rPr>
              <a:t>Quantified 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468880"/>
            <a:ext cx="23088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6EFF"/>
                </a:solidFill>
                <a:latin typeface="Poppins"/>
              </a:rPr>
              <a:t>Men 55+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852928"/>
            <a:ext cx="23088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35 buyers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3401568"/>
            <a:ext cx="23088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25% · $355 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3813048"/>
            <a:ext cx="23088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Men 65+: $321, 80% close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498848"/>
            <a:ext cx="23088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7A4B"/>
                </a:solidFill>
                <a:latin typeface="Poppins"/>
              </a:rPr>
              <a:t>Wants: </a:t>
            </a:r>
            <a:r>
              <a:rPr sz="1800" b="0">
                <a:solidFill>
                  <a:srgbClr val="0F2445"/>
                </a:solidFill>
                <a:latin typeface="Poppins"/>
              </a:rPr>
              <a:t>data and precision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184648"/>
            <a:ext cx="23088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7A4B"/>
                </a:solidFill>
                <a:latin typeface="Poppins"/>
              </a:rPr>
              <a:t>Signals: </a:t>
            </a:r>
            <a:r>
              <a:rPr sz="1800" b="0">
                <a:solidFill>
                  <a:srgbClr val="0F2445"/>
                </a:solidFill>
                <a:latin typeface="Poppins"/>
              </a:rPr>
              <a:t>Apple Watch, Fitbit, creatine, sauna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3980" y="1572768"/>
            <a:ext cx="2674620" cy="4681728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5148" y="1709928"/>
            <a:ext cx="2308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2445"/>
                </a:solidFill>
                <a:latin typeface="Poppins"/>
              </a:rPr>
              <a:t>The Biohacker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5148" y="2139696"/>
            <a:ext cx="23088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A5A72"/>
                </a:solidFill>
                <a:latin typeface="Poppins"/>
              </a:rPr>
              <a:t>Biohacker identity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5148" y="2468880"/>
            <a:ext cx="23088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6EFF"/>
                </a:solidFill>
                <a:latin typeface="Poppins"/>
              </a:rPr>
              <a:t>Ages 45 to 54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5148" y="2852928"/>
            <a:ext cx="23088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19 buyers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5148" y="3401568"/>
            <a:ext cx="23088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13% · $437 each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5148" y="3813048"/>
            <a:ext cx="23088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Blueprint: 1,281 leads, 2 buyers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5148" y="4498848"/>
            <a:ext cx="23088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7A4B"/>
                </a:solidFill>
                <a:latin typeface="Poppins"/>
              </a:rPr>
              <a:t>Wants: </a:t>
            </a:r>
            <a:r>
              <a:rPr sz="1800" b="0">
                <a:solidFill>
                  <a:srgbClr val="0F2445"/>
                </a:solidFill>
                <a:latin typeface="Poppins"/>
              </a:rPr>
              <a:t>an edge and a protocol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5148" y="5184648"/>
            <a:ext cx="23088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7A4B"/>
                </a:solidFill>
                <a:latin typeface="Poppins"/>
              </a:rPr>
              <a:t>Signals: </a:t>
            </a:r>
            <a:r>
              <a:rPr sz="1800" b="0">
                <a:solidFill>
                  <a:srgbClr val="0F2445"/>
                </a:solidFill>
                <a:latin typeface="Poppins"/>
              </a:rPr>
              <a:t>Engaged Shoppers, top-income ZIPs, keto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A72"/>
                </a:solidFill>
                <a:latin typeface="Poppins"/>
              </a:rPr>
              <a:t>Buyers are Masterclass purchases in Meta. Lanes follow the Evolut longevity map.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6EFF"/>
                </a:solidFill>
                <a:latin typeface="Poppins"/>
              </a:rPr>
              <a:t>Layered with top 10 to 25% income ZIPs, Engaged Shoppers, iOS only, buyer lookalikes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41 interests, 7 longevity drivers, 4 personas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81328"/>
          <a:ext cx="111099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737360"/>
                <a:gridCol w="6172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6EFF"/>
                          </a:solidFill>
                          <a:latin typeface="Poppins"/>
                        </a:rPr>
                        <a:t>8  </a:t>
                      </a:r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Nutrition and supplements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E7A4B"/>
                          </a:solidFill>
                          <a:latin typeface="Poppins"/>
                        </a:rPr>
                        <a:t>Preventer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2445"/>
                          </a:solidFill>
                          <a:latin typeface="Poppins"/>
                        </a:rPr>
                        <a:t>Human nutrition, Healthy diet, Vitamins and nutritional supplements, Collagen, Probiotic, Turmeric, Omega, Magnesium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6EFF"/>
                          </a:solidFill>
                          <a:latin typeface="Poppins"/>
                        </a:rPr>
                        <a:t>7  </a:t>
                      </a:r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Metabolic and biohacking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E7A4B"/>
                          </a:solidFill>
                          <a:latin typeface="Poppins"/>
                        </a:rPr>
                        <a:t>Biohacker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2445"/>
                          </a:solidFill>
                          <a:latin typeface="Poppins"/>
                        </a:rPr>
                        <a:t>Paleolithic diet, Ketone, Creatine, Metabolism, Genetics, Life extension, Sauna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6EFF"/>
                          </a:solidFill>
                          <a:latin typeface="Poppins"/>
                        </a:rPr>
                        <a:t>9  </a:t>
                      </a:r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Lifelong learning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E7A4B"/>
                          </a:solidFill>
                          <a:latin typeface="Poppins"/>
                        </a:rPr>
                        <a:t>Learner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2445"/>
                          </a:solidFill>
                          <a:latin typeface="Poppins"/>
                        </a:rPr>
                        <a:t>Master class, Udemy, Distance education, Continuing education, Web conferencing, TED (conference), Audiobook, Audible.com, Non-fiction books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6EFF"/>
                          </a:solidFill>
                          <a:latin typeface="Poppins"/>
                        </a:rPr>
                        <a:t>5  </a:t>
                      </a:r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Movement and strength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E7A4B"/>
                          </a:solidFill>
                          <a:latin typeface="Poppins"/>
                        </a:rPr>
                        <a:t>Optimizer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2445"/>
                          </a:solidFill>
                          <a:latin typeface="Poppins"/>
                        </a:rPr>
                        <a:t>Physical fitness, Strength training, High-intensity interval training, Pilates, Walking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6EFF"/>
                          </a:solidFill>
                          <a:latin typeface="Poppins"/>
                        </a:rPr>
                        <a:t>4  </a:t>
                      </a:r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Measurement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E7A4B"/>
                          </a:solidFill>
                          <a:latin typeface="Poppins"/>
                        </a:rPr>
                        <a:t>Optimizer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2445"/>
                          </a:solidFill>
                          <a:latin typeface="Poppins"/>
                        </a:rPr>
                        <a:t>Apple Watch, Fitbit, Wearable technology, MyFitnessPal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6EFF"/>
                          </a:solidFill>
                          <a:latin typeface="Poppins"/>
                        </a:rPr>
                        <a:t>5  </a:t>
                      </a:r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Mind and habits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E7A4B"/>
                          </a:solidFill>
                          <a:latin typeface="Poppins"/>
                        </a:rPr>
                        <a:t>Learner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2445"/>
                          </a:solidFill>
                          <a:latin typeface="Poppins"/>
                        </a:rPr>
                        <a:t>Meditations, Well-being, Healthy Habits, Self-help, Personal development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6EFF"/>
                          </a:solidFill>
                          <a:latin typeface="Poppins"/>
                        </a:rPr>
                        <a:t>3  </a:t>
                      </a:r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Trusted voices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E7A4B"/>
                          </a:solidFill>
                          <a:latin typeface="Poppins"/>
                        </a:rPr>
                        <a:t>Preventer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2445"/>
                          </a:solidFill>
                          <a:latin typeface="Poppins"/>
                        </a:rPr>
                        <a:t>Oprah Winfrey, Prevention (magazine), PayPal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6EFF"/>
                </a:solidFill>
                <a:latin typeface="Poppins"/>
              </a:rPr>
              <a:t>Masterclass · results by targeting layer · Meta Ads, 24 Sep to 22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Best layers: $318 and $328 per buyer, worst $514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109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0"/>
                <a:gridCol w="1280160"/>
                <a:gridCol w="1554480"/>
                <a:gridCol w="164592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Poppins"/>
                        </a:rPr>
                        <a:t>Targeting layer</a:t>
                      </a:r>
                    </a:p>
                  </a:txBody>
                  <a:tcPr anchor="ctr" marL="137160" marR="137160">
                    <a:solidFill>
                      <a:srgbClr val="0F24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1">
                          <a:solidFill>
                            <a:srgbClr val="FFFFFF"/>
                          </a:solidFill>
                          <a:latin typeface="Poppins"/>
                        </a:rPr>
                        <a:t>Buyers</a:t>
                      </a:r>
                    </a:p>
                  </a:txBody>
                  <a:tcPr anchor="ctr" marL="137160" marR="137160">
                    <a:solidFill>
                      <a:srgbClr val="0F24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1">
                          <a:solidFill>
                            <a:srgbClr val="FFFFFF"/>
                          </a:solidFill>
                          <a:latin typeface="Poppins"/>
                        </a:rPr>
                        <a:t>Spend</a:t>
                      </a:r>
                    </a:p>
                  </a:txBody>
                  <a:tcPr anchor="ctr" marL="137160" marR="137160">
                    <a:solidFill>
                      <a:srgbClr val="0F24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1">
                          <a:solidFill>
                            <a:srgbClr val="FFFFFF"/>
                          </a:solidFill>
                          <a:latin typeface="Poppins"/>
                        </a:rPr>
                        <a:t>Per buyer</a:t>
                      </a:r>
                    </a:p>
                  </a:txBody>
                  <a:tcPr anchor="ctr" marL="137160" marR="137160">
                    <a:solidFill>
                      <a:srgbClr val="0F244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0F2445"/>
                          </a:solidFill>
                          <a:latin typeface="Poppins"/>
                        </a:rPr>
                        <a:t>iOS only, ages 45 to 65+, 41 interests, top 10% income</a:t>
                      </a:r>
                    </a:p>
                  </a:txBody>
                  <a:tcPr anchor="ctr" marL="137160" marR="137160">
                    <a:solidFill>
                      <a:srgbClr val="E3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38</a:t>
                      </a:r>
                    </a:p>
                  </a:txBody>
                  <a:tcPr anchor="ctr" marL="137160" marR="137160">
                    <a:solidFill>
                      <a:srgbClr val="E3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0">
                          <a:solidFill>
                            <a:srgbClr val="0F2445"/>
                          </a:solidFill>
                          <a:latin typeface="Poppins"/>
                        </a:rPr>
                        <a:t>$12,103</a:t>
                      </a:r>
                    </a:p>
                  </a:txBody>
                  <a:tcPr anchor="ctr" marL="137160" marR="137160">
                    <a:solidFill>
                      <a:srgbClr val="E3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$318</a:t>
                      </a:r>
                    </a:p>
                  </a:txBody>
                  <a:tcPr anchor="ctr" marL="137160" marR="137160">
                    <a:solidFill>
                      <a:srgbClr val="E3F3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0F2445"/>
                          </a:solidFill>
                          <a:latin typeface="Poppins"/>
                        </a:rPr>
                        <a:t>Ages 35 to 65+, 41 interests, Engaged Shoppers, top 25% income</a:t>
                      </a:r>
                    </a:p>
                  </a:txBody>
                  <a:tcPr anchor="ctr" marL="137160" marR="137160">
                    <a:solidFill>
                      <a:srgbClr val="E3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42</a:t>
                      </a:r>
                    </a:p>
                  </a:txBody>
                  <a:tcPr anchor="ctr" marL="137160" marR="137160">
                    <a:solidFill>
                      <a:srgbClr val="E3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0">
                          <a:solidFill>
                            <a:srgbClr val="0F2445"/>
                          </a:solidFill>
                          <a:latin typeface="Poppins"/>
                        </a:rPr>
                        <a:t>$13,764</a:t>
                      </a:r>
                    </a:p>
                  </a:txBody>
                  <a:tcPr anchor="ctr" marL="137160" marR="137160">
                    <a:solidFill>
                      <a:srgbClr val="E3F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$328</a:t>
                      </a:r>
                    </a:p>
                  </a:txBody>
                  <a:tcPr anchor="ctr" marL="137160" marR="137160">
                    <a:solidFill>
                      <a:srgbClr val="E3F3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0F2445"/>
                          </a:solidFill>
                          <a:latin typeface="Poppins"/>
                        </a:rPr>
                        <a:t>Ages 44 to 65+, 41 interests, Engaged Shoppers, top 25% income</a:t>
                      </a:r>
                    </a:p>
                  </a:txBody>
                  <a:tcPr anchor="ctr" marL="137160" marR="137160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28</a:t>
                      </a:r>
                    </a:p>
                  </a:txBody>
                  <a:tcPr anchor="ctr" marL="137160" marR="137160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0">
                          <a:solidFill>
                            <a:srgbClr val="0F2445"/>
                          </a:solidFill>
                          <a:latin typeface="Poppins"/>
                        </a:rPr>
                        <a:t>$11,536</a:t>
                      </a:r>
                    </a:p>
                  </a:txBody>
                  <a:tcPr anchor="ctr" marL="137160" marR="137160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$412</a:t>
                      </a:r>
                    </a:p>
                  </a:txBody>
                  <a:tcPr anchor="ctr" marL="137160" marR="137160">
                    <a:solidFill>
                      <a:srgbClr val="EEF4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0F2445"/>
                          </a:solidFill>
                          <a:latin typeface="Poppins"/>
                        </a:rPr>
                        <a:t>iOS only, ages 45 to 64, Facebook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22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0">
                          <a:solidFill>
                            <a:srgbClr val="0F2445"/>
                          </a:solidFill>
                          <a:latin typeface="Poppins"/>
                        </a:rPr>
                        <a:t>$10,347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$470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0F2445"/>
                          </a:solidFill>
                          <a:latin typeface="Poppins"/>
                        </a:rPr>
                        <a:t>Men 55 to 65+, 41 interests, top 10% income (paused)</a:t>
                      </a:r>
                    </a:p>
                  </a:txBody>
                  <a:tcPr anchor="ctr" marL="137160" marR="137160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8</a:t>
                      </a:r>
                    </a:p>
                  </a:txBody>
                  <a:tcPr anchor="ctr" marL="137160" marR="137160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0">
                          <a:solidFill>
                            <a:srgbClr val="0F2445"/>
                          </a:solidFill>
                          <a:latin typeface="Poppins"/>
                        </a:rPr>
                        <a:t>$4,115</a:t>
                      </a:r>
                    </a:p>
                  </a:txBody>
                  <a:tcPr anchor="ctr" marL="137160" marR="137160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$514</a:t>
                      </a:r>
                    </a:p>
                  </a:txBody>
                  <a:tcPr anchor="ctr" marL="137160" marR="137160">
                    <a:solidFill>
                      <a:srgbClr val="EEF4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900" b="0">
                          <a:solidFill>
                            <a:srgbClr val="0F2445"/>
                          </a:solidFill>
                          <a:latin typeface="Poppins"/>
                        </a:rPr>
                        <a:t>Buyer lookalike plus warm checkout visitors (since 19 Oct)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0">
                          <a:solidFill>
                            <a:srgbClr val="0F2445"/>
                          </a:solidFill>
                          <a:latin typeface="Poppins"/>
                        </a:rPr>
                        <a:t>$1,179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$393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A72"/>
                </a:solidFill>
                <a:latin typeface="Poppins"/>
              </a:rPr>
              <a:t>Total 141 buyers, $53,857 spend, $382 per buyer. 91% of buyers bought on iPhone.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6EFF"/>
                </a:solidFill>
                <a:latin typeface="Poppins"/>
              </a:rPr>
              <a:t>Longevity Blueprint · 18-week course, 5 × $179 · Meta Ads, May to 22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Blueprint: 5,979 leads, 4 online buyers aged 45 to 64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72768"/>
            <a:ext cx="6309360" cy="4736592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09928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2445"/>
                </a:solidFill>
                <a:latin typeface="Poppins"/>
              </a:rPr>
              <a:t>Leads by age and gender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2167128"/>
          <a:ext cx="6035040" cy="405079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95160" y="1572768"/>
            <a:ext cx="4663440" cy="16002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51192" y="171907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6EFF"/>
                </a:solidFill>
                <a:latin typeface="Poppins"/>
              </a:rPr>
              <a:t>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51192" y="2139696"/>
            <a:ext cx="425195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F2445"/>
                </a:solidFill>
                <a:latin typeface="Poppins"/>
              </a:rPr>
              <a:t>5,979 at $20 each</a:t>
            </a:r>
          </a:p>
          <a:p>
            <a:pPr algn="l"/>
            <a:r>
              <a:rPr sz="2000" b="0">
                <a:solidFill>
                  <a:srgbClr val="0F2445"/>
                </a:solidFill>
                <a:latin typeface="Poppins"/>
              </a:rPr>
              <a:t>73% women, 69% aged 55+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3291840"/>
            <a:ext cx="4663440" cy="1600200"/>
          </a:xfrm>
          <a:prstGeom prst="roundRect">
            <a:avLst>
              <a:gd name="adj" fmla="val 6000"/>
            </a:avLst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51192" y="3438144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7A4B"/>
                </a:solidFill>
                <a:latin typeface="Poppins"/>
              </a:rPr>
              <a:t>Online buyers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1192" y="3858768"/>
            <a:ext cx="425195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F2445"/>
                </a:solidFill>
                <a:latin typeface="Poppins"/>
              </a:rPr>
              <a:t>4 buyers: 3 women, 1 man</a:t>
            </a:r>
          </a:p>
          <a:p>
            <a:pPr algn="l"/>
            <a:r>
              <a:rPr sz="2000" b="0">
                <a:solidFill>
                  <a:srgbClr val="0F2445"/>
                </a:solidFill>
                <a:latin typeface="Poppins"/>
              </a:rPr>
              <a:t>Ages 45 to 64, all on iPhone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5010912"/>
            <a:ext cx="4663440" cy="1298448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1192" y="515721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6EFF"/>
                </a:solidFill>
                <a:latin typeface="Poppins"/>
              </a:rPr>
              <a:t>Who we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192" y="5577840"/>
            <a:ext cx="425195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F2445"/>
                </a:solidFill>
                <a:latin typeface="Poppins"/>
              </a:rPr>
              <a:t>US, 35 to 64, 12 interests</a:t>
            </a:r>
          </a:p>
          <a:p>
            <a:pPr algn="l"/>
            <a:r>
              <a:rPr sz="2000" b="0">
                <a:solidFill>
                  <a:srgbClr val="0F2445"/>
                </a:solidFill>
                <a:latin typeface="Poppins"/>
              </a:rPr>
              <a:t>3 of 4 May ad sets women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A72"/>
                </a:solidFill>
                <a:latin typeface="Poppins"/>
              </a:rPr>
              <a:t>Sales-team Blueprint closings are in the eTeacher CRM, not in Meta.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6EFF"/>
                </a:solidFill>
                <a:latin typeface="Poppins"/>
              </a:rPr>
              <a:t>Julie Masterclass · $49 Standard, $79 VIP · Meta Ads, 24 Sep to 22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Masterclass: 141 buyers from 205 checkout starts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72768"/>
            <a:ext cx="6309360" cy="4736592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9928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2445"/>
                </a:solidFill>
                <a:latin typeface="Poppins"/>
              </a:rPr>
              <a:t>Checkout starts and buyers by age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2167128"/>
          <a:ext cx="6035040" cy="405079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95160" y="1572768"/>
            <a:ext cx="4663440" cy="1600200"/>
          </a:xfrm>
          <a:prstGeom prst="roundRect">
            <a:avLst>
              <a:gd name="adj" fmla="val 6000"/>
            </a:avLst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51192" y="171907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7A4B"/>
                </a:solidFill>
                <a:latin typeface="Poppins"/>
              </a:rPr>
              <a:t>Buyers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51192" y="2139696"/>
            <a:ext cx="425195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F2445"/>
                </a:solidFill>
                <a:latin typeface="Poppins"/>
              </a:rPr>
              <a:t>141 at $382 each</a:t>
            </a:r>
          </a:p>
          <a:p>
            <a:pPr algn="l"/>
            <a:r>
              <a:rPr sz="2000" b="0">
                <a:solidFill>
                  <a:srgbClr val="0F2445"/>
                </a:solidFill>
                <a:latin typeface="Poppins"/>
              </a:rPr>
              <a:t>70% women, 84% aged 55+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3291840"/>
            <a:ext cx="4663440" cy="16002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51192" y="3438144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6EFF"/>
                </a:solidFill>
                <a:latin typeface="Poppins"/>
              </a:rPr>
              <a:t>Best close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1192" y="3858768"/>
            <a:ext cx="425195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F2445"/>
                </a:solidFill>
                <a:latin typeface="Poppins"/>
              </a:rPr>
              <a:t>Men 65+: 24 of 30 checkouts</a:t>
            </a:r>
          </a:p>
          <a:p>
            <a:pPr algn="l"/>
            <a:r>
              <a:rPr sz="2000" b="0">
                <a:solidFill>
                  <a:srgbClr val="0F2445"/>
                </a:solidFill>
                <a:latin typeface="Poppins"/>
              </a:rPr>
              <a:t>80% close, $321 per buyer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5010912"/>
            <a:ext cx="4663440" cy="1298448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1192" y="515721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6EFF"/>
                </a:solidFill>
                <a:latin typeface="Poppins"/>
              </a:rPr>
              <a:t>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192" y="5577840"/>
            <a:ext cx="425195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0F2445"/>
                </a:solidFill>
                <a:latin typeface="Poppins"/>
              </a:rPr>
              <a:t>91% of buyers on iPhone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A72"/>
                </a:solidFill>
                <a:latin typeface="Poppins"/>
              </a:rPr>
              <a:t>Checkout starts and buyers are Meta-tracked Masterclass events, most current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