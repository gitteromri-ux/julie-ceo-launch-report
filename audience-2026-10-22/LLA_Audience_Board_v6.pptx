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Who buys from us · Meta Ads, May to 22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Women over 55 are 58% of our buyers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109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606040"/>
                <a:gridCol w="2606040"/>
                <a:gridCol w="2606040"/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</a:rPr>
                        <a:t>Segment</a:t>
                      </a:r>
                    </a:p>
                  </a:txBody>
                  <a:tcPr anchor="ctr" marL="182880" marR="182880">
                    <a:solidFill>
                      <a:srgbClr val="0F24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</a:rPr>
                        <a:t>Blueprint leads</a:t>
                      </a:r>
                    </a:p>
                  </a:txBody>
                  <a:tcPr anchor="ctr" marL="182880" marR="182880">
                    <a:solidFill>
                      <a:srgbClr val="0F24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</a:rPr>
                        <a:t>Masterclass buyers</a:t>
                      </a:r>
                    </a:p>
                  </a:txBody>
                  <a:tcPr anchor="ctr" marL="182880" marR="182880">
                    <a:solidFill>
                      <a:srgbClr val="0F24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</a:rPr>
                        <a:t>Cost per buyer</a:t>
                      </a:r>
                    </a:p>
                  </a:txBody>
                  <a:tcPr anchor="ctr" marL="182880" marR="182880">
                    <a:solidFill>
                      <a:srgbClr val="0F2445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0F2445"/>
                          </a:solidFill>
                          <a:latin typeface="Poppins"/>
                        </a:rPr>
                        <a:t>Women 55 to 64</a:t>
                      </a:r>
                    </a:p>
                  </a:txBody>
                  <a:tcPr anchor="ctr" marL="182880" marR="18288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0">
                          <a:solidFill>
                            <a:srgbClr val="0F2445"/>
                          </a:solidFill>
                          <a:latin typeface="Poppins"/>
                        </a:rPr>
                        <a:t>2,130  ·  36%</a:t>
                      </a:r>
                    </a:p>
                  </a:txBody>
                  <a:tcPr anchor="ctr" marL="182880" marR="18288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1">
                          <a:solidFill>
                            <a:srgbClr val="0F2445"/>
                          </a:solidFill>
                          <a:latin typeface="Poppins"/>
                        </a:rPr>
                        <a:t>42  ·  30%</a:t>
                      </a:r>
                    </a:p>
                  </a:txBody>
                  <a:tcPr anchor="ctr" marL="182880" marR="18288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0">
                          <a:solidFill>
                            <a:srgbClr val="0F2445"/>
                          </a:solidFill>
                          <a:latin typeface="Poppins"/>
                        </a:rPr>
                        <a:t>$347</a:t>
                      </a:r>
                    </a:p>
                  </a:txBody>
                  <a:tcPr anchor="ctr" marL="182880" marR="182880">
                    <a:solidFill>
                      <a:srgbClr val="EEF4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0F2445"/>
                          </a:solidFill>
                          <a:latin typeface="Poppins"/>
                        </a:rPr>
                        <a:t>Women 65+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0">
                          <a:solidFill>
                            <a:srgbClr val="0F2445"/>
                          </a:solidFill>
                          <a:latin typeface="Poppins"/>
                        </a:rPr>
                        <a:t>860  ·  14%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1">
                          <a:solidFill>
                            <a:srgbClr val="0F2445"/>
                          </a:solidFill>
                          <a:latin typeface="Poppins"/>
                        </a:rPr>
                        <a:t>40  ·  28%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0">
                          <a:solidFill>
                            <a:srgbClr val="0F2445"/>
                          </a:solidFill>
                          <a:latin typeface="Poppins"/>
                        </a:rPr>
                        <a:t>$419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0F2445"/>
                          </a:solidFill>
                          <a:latin typeface="Poppins"/>
                        </a:rPr>
                        <a:t>Men 55+</a:t>
                      </a:r>
                    </a:p>
                  </a:txBody>
                  <a:tcPr anchor="ctr" marL="182880" marR="18288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0">
                          <a:solidFill>
                            <a:srgbClr val="0F2445"/>
                          </a:solidFill>
                          <a:latin typeface="Poppins"/>
                        </a:rPr>
                        <a:t>1,124  ·  19%</a:t>
                      </a:r>
                    </a:p>
                  </a:txBody>
                  <a:tcPr anchor="ctr" marL="182880" marR="18288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1">
                          <a:solidFill>
                            <a:srgbClr val="0F2445"/>
                          </a:solidFill>
                          <a:latin typeface="Poppins"/>
                        </a:rPr>
                        <a:t>35  ·  25%</a:t>
                      </a:r>
                    </a:p>
                  </a:txBody>
                  <a:tcPr anchor="ctr" marL="182880" marR="18288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0">
                          <a:solidFill>
                            <a:srgbClr val="0F2445"/>
                          </a:solidFill>
                          <a:latin typeface="Poppins"/>
                        </a:rPr>
                        <a:t>$355</a:t>
                      </a:r>
                    </a:p>
                  </a:txBody>
                  <a:tcPr anchor="ctr" marL="182880" marR="182880">
                    <a:solidFill>
                      <a:srgbClr val="EEF4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0F2445"/>
                          </a:solidFill>
                          <a:latin typeface="Poppins"/>
                        </a:rPr>
                        <a:t>Adults 45 to 54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0">
                          <a:solidFill>
                            <a:srgbClr val="0F2445"/>
                          </a:solidFill>
                          <a:latin typeface="Poppins"/>
                        </a:rPr>
                        <a:t>1,281  ·  21%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1">
                          <a:solidFill>
                            <a:srgbClr val="0F2445"/>
                          </a:solidFill>
                          <a:latin typeface="Poppins"/>
                        </a:rPr>
                        <a:t>19  ·  13%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400" b="0">
                          <a:solidFill>
                            <a:srgbClr val="0F2445"/>
                          </a:solidFill>
                          <a:latin typeface="Poppins"/>
                        </a:rPr>
                        <a:t>$437</a:t>
                      </a:r>
                    </a:p>
                  </a:txBody>
                  <a:tcPr anchor="ctr" marL="182880" marR="18288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Totals: 5,979 Blueprint leads, 141 Masterclass buyers. These 4 segments are 96% of buyers.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What the data says · Meta Ads, May to 22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Buyers are older than leads, and they buy on iPhone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0F2445"/>
                </a:solidFill>
                <a:latin typeface="Poppins"/>
              </a:rPr>
              <a:t>46%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F2445"/>
                </a:solidFill>
                <a:latin typeface="Poppins"/>
              </a:rPr>
              <a:t>of buyers are 65+, but only 21% of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0E7A4B"/>
                </a:solidFill>
                <a:latin typeface="Poppins"/>
              </a:rPr>
              <a:t>$321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78892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F2445"/>
                </a:solidFill>
                <a:latin typeface="Poppins"/>
              </a:rPr>
              <a:t>per buyer for men 65+, our lowest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0F2445"/>
                </a:solidFill>
                <a:latin typeface="Poppins"/>
              </a:rPr>
              <a:t>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F2445"/>
                </a:solidFill>
                <a:latin typeface="Poppins"/>
              </a:rPr>
              <a:t>of buyers bought on an iPhone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0F2445"/>
                </a:solidFill>
                <a:latin typeface="Poppins"/>
              </a:rPr>
              <a:t>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07492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F2445"/>
                </a:solidFill>
                <a:latin typeface="Poppins"/>
              </a:rPr>
              <a:t>of buyers are under 45, vs 9% of leads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11109960" cy="18288"/>
          </a:xfrm>
          <a:prstGeom prst="rect">
            <a:avLst/>
          </a:prstGeom>
          <a:solidFill>
            <a:srgbClr val="D5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28800"/>
            <a:ext cx="18288" cy="4206240"/>
          </a:xfrm>
          <a:prstGeom prst="rect">
            <a:avLst/>
          </a:prstGeom>
          <a:solidFill>
            <a:srgbClr val="D5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Blueprint leads: 3 lead campaigns. Buyers: Masterclass purchases tracked in Meta.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Who we target · Masterclass campaign, Meta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US adults 35 to 65+ who care about health and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82880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F2445"/>
                </a:solidFill>
                <a:latin typeface="Poppins"/>
              </a:rPr>
              <a:t>United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51460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F2445"/>
                </a:solidFill>
                <a:latin typeface="Poppins"/>
              </a:rPr>
              <a:t>35 to 65+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Income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20040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F2445"/>
                </a:solidFill>
                <a:latin typeface="Poppins"/>
              </a:rPr>
              <a:t>Top 10 to 25% ZIP 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88620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F2445"/>
                </a:solidFill>
                <a:latin typeface="Poppins"/>
              </a:rPr>
              <a:t>Engaged Shoppers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57200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F2445"/>
                </a:solidFill>
                <a:latin typeface="Poppins"/>
              </a:rPr>
              <a:t>iPhone only, 2 ad 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Lookalikes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25780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F2445"/>
                </a:solidFill>
                <a:latin typeface="Poppins"/>
              </a:rPr>
              <a:t>Similar to our buyers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828800"/>
            <a:ext cx="18288" cy="4206240"/>
          </a:xfrm>
          <a:prstGeom prst="rect">
            <a:avLst/>
          </a:prstGeom>
          <a:solidFill>
            <a:srgbClr val="D5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445"/>
                </a:solidFill>
                <a:latin typeface="Poppins"/>
              </a:rPr>
              <a:t>41 interests, 4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6EFF"/>
                </a:solidFill>
                <a:latin typeface="Poppins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4414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445"/>
                </a:solidFill>
                <a:latin typeface="Poppins"/>
              </a:rPr>
              <a:t>Health and nutrition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85292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diet, vitamins, collagen, meditation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6EFF"/>
                </a:solidFill>
                <a:latin typeface="Poppins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40156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445"/>
                </a:solidFill>
                <a:latin typeface="Poppins"/>
              </a:rPr>
              <a:t>Learning and self-growth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8130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Master class, Udemy, Audible, 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434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6EFF"/>
                </a:solidFill>
                <a:latin typeface="Poppins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3616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445"/>
                </a:solidFill>
                <a:latin typeface="Poppins"/>
              </a:rPr>
              <a:t>Fitness and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77316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strength training, Pilates, Apple Watch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035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06EFF"/>
                </a:solidFill>
                <a:latin typeface="Poppin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32180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445"/>
                </a:solidFill>
                <a:latin typeface="Poppins"/>
              </a:rPr>
              <a:t>Online payers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57332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PayPal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